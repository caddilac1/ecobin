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7" d="100"/>
          <a:sy n="67" d="100"/>
        </p:scale>
        <p:origin x="840"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10228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9692640" y="-2011680"/>
            <a:ext cx="5486400" cy="5486400"/>
          </a:xfrm>
          <a:prstGeom prst="ellipse">
            <a:avLst/>
          </a:prstGeom>
          <a:solidFill>
            <a:srgbClr val="2D6A4F">
              <a:alpha val="45000"/>
            </a:srgbClr>
          </a:solidFill>
          <a:ln/>
        </p:spPr>
      </p:sp>
      <p:sp>
        <p:nvSpPr>
          <p:cNvPr id="3" name="Shape 1"/>
          <p:cNvSpPr/>
          <p:nvPr/>
        </p:nvSpPr>
        <p:spPr>
          <a:xfrm>
            <a:off x="-2194560" y="4206240"/>
            <a:ext cx="5029200" cy="5029200"/>
          </a:xfrm>
          <a:prstGeom prst="ellipse">
            <a:avLst/>
          </a:prstGeom>
          <a:solidFill>
            <a:srgbClr val="2D6A4F">
              <a:alpha val="45000"/>
            </a:srgbClr>
          </a:solidFill>
          <a:ln/>
        </p:spPr>
      </p:sp>
      <p:sp>
        <p:nvSpPr>
          <p:cNvPr id="4" name="Shape 2"/>
          <p:cNvSpPr/>
          <p:nvPr/>
        </p:nvSpPr>
        <p:spPr>
          <a:xfrm>
            <a:off x="822960" y="822960"/>
            <a:ext cx="822960" cy="822960"/>
          </a:xfrm>
          <a:prstGeom prst="ellipse">
            <a:avLst/>
          </a:prstGeom>
          <a:solidFill>
            <a:srgbClr val="F59E0B"/>
          </a:solidFill>
          <a:ln/>
        </p:spPr>
      </p:sp>
      <p:pic>
        <p:nvPicPr>
          <p:cNvPr id="5" name="Image 0" descr="/home/claude/work/icons/recycle_1B4332.png"/>
          <p:cNvPicPr>
            <a:picLocks noChangeAspect="1"/>
          </p:cNvPicPr>
          <p:nvPr/>
        </p:nvPicPr>
        <p:blipFill>
          <a:blip r:embed="rId3"/>
          <a:stretch>
            <a:fillRect/>
          </a:stretch>
        </p:blipFill>
        <p:spPr>
          <a:xfrm>
            <a:off x="1036930" y="1036930"/>
            <a:ext cx="395021" cy="395021"/>
          </a:xfrm>
          <a:prstGeom prst="rect">
            <a:avLst/>
          </a:prstGeom>
        </p:spPr>
      </p:pic>
      <p:sp>
        <p:nvSpPr>
          <p:cNvPr id="6" name="Text 3"/>
          <p:cNvSpPr/>
          <p:nvPr/>
        </p:nvSpPr>
        <p:spPr>
          <a:xfrm>
            <a:off x="822960" y="1965960"/>
            <a:ext cx="9144000" cy="320040"/>
          </a:xfrm>
          <a:prstGeom prst="rect">
            <a:avLst/>
          </a:prstGeom>
          <a:noFill/>
          <a:ln/>
        </p:spPr>
        <p:txBody>
          <a:bodyPr wrap="square" rtlCol="0" anchor="ctr"/>
          <a:lstStyle/>
          <a:p>
            <a:pPr marL="0" indent="0">
              <a:buNone/>
            </a:pPr>
            <a:r>
              <a:rPr lang="en-US" sz="1300" b="1" kern="0" spc="200" dirty="0">
                <a:solidFill>
                  <a:srgbClr val="CFE8DA"/>
                </a:solidFill>
                <a:latin typeface="Calibri" pitchFamily="34" charset="0"/>
                <a:ea typeface="Calibri" pitchFamily="34" charset="-122"/>
                <a:cs typeface="Calibri" pitchFamily="34" charset="-120"/>
              </a:rPr>
              <a:t>BUPE 362  •  GROUP BUSINESS PLAN PRESENTATION</a:t>
            </a:r>
            <a:endParaRPr lang="en-US" sz="1300" dirty="0"/>
          </a:p>
        </p:txBody>
      </p:sp>
      <p:sp>
        <p:nvSpPr>
          <p:cNvPr id="7" name="Text 4"/>
          <p:cNvSpPr/>
          <p:nvPr/>
        </p:nvSpPr>
        <p:spPr>
          <a:xfrm>
            <a:off x="777240" y="2331720"/>
            <a:ext cx="10058400" cy="1188720"/>
          </a:xfrm>
          <a:prstGeom prst="rect">
            <a:avLst/>
          </a:prstGeom>
          <a:noFill/>
          <a:ln/>
        </p:spPr>
        <p:txBody>
          <a:bodyPr wrap="square" rtlCol="0" anchor="ctr"/>
          <a:lstStyle/>
          <a:p>
            <a:pPr marL="0" indent="0">
              <a:buNone/>
            </a:pPr>
            <a:r>
              <a:rPr lang="en-US" sz="6000" b="1" dirty="0">
                <a:solidFill>
                  <a:srgbClr val="FFFFFF"/>
                </a:solidFill>
                <a:latin typeface="Cambria" pitchFamily="34" charset="0"/>
                <a:ea typeface="Cambria" pitchFamily="34" charset="-122"/>
                <a:cs typeface="Cambria" pitchFamily="34" charset="-120"/>
              </a:rPr>
              <a:t>EcoBin Ghana</a:t>
            </a:r>
            <a:endParaRPr lang="en-US" sz="6000" dirty="0"/>
          </a:p>
        </p:txBody>
      </p:sp>
      <p:sp>
        <p:nvSpPr>
          <p:cNvPr id="8" name="Text 5"/>
          <p:cNvSpPr/>
          <p:nvPr/>
        </p:nvSpPr>
        <p:spPr>
          <a:xfrm>
            <a:off x="822960" y="3429000"/>
            <a:ext cx="9601200" cy="548640"/>
          </a:xfrm>
          <a:prstGeom prst="rect">
            <a:avLst/>
          </a:prstGeom>
          <a:noFill/>
          <a:ln/>
        </p:spPr>
        <p:txBody>
          <a:bodyPr wrap="square" rtlCol="0" anchor="ctr"/>
          <a:lstStyle/>
          <a:p>
            <a:pPr marL="0" indent="0">
              <a:buNone/>
            </a:pPr>
            <a:r>
              <a:rPr lang="en-US" sz="2200" i="1" dirty="0">
                <a:solidFill>
                  <a:srgbClr val="CFE8DA"/>
                </a:solidFill>
                <a:latin typeface="Calibri" pitchFamily="34" charset="0"/>
                <a:ea typeface="Calibri" pitchFamily="34" charset="-122"/>
                <a:cs typeface="Calibri" pitchFamily="34" charset="-120"/>
              </a:rPr>
              <a:t>Smart Waste Collection &amp; Recycling Rewards</a:t>
            </a:r>
            <a:endParaRPr lang="en-US" sz="2200" dirty="0"/>
          </a:p>
        </p:txBody>
      </p:sp>
      <p:sp>
        <p:nvSpPr>
          <p:cNvPr id="9" name="Text 6"/>
          <p:cNvSpPr/>
          <p:nvPr/>
        </p:nvSpPr>
        <p:spPr>
          <a:xfrm>
            <a:off x="822960" y="5943600"/>
            <a:ext cx="10515600" cy="365760"/>
          </a:xfrm>
          <a:prstGeom prst="rect">
            <a:avLst/>
          </a:prstGeom>
          <a:noFill/>
          <a:ln/>
        </p:spPr>
        <p:txBody>
          <a:bodyPr wrap="square" rtlCol="0" anchor="ctr"/>
          <a:lstStyle/>
          <a:p>
            <a:pPr marL="0" indent="0">
              <a:buNone/>
            </a:pPr>
            <a:r>
              <a:rPr lang="en-US" sz="1300" dirty="0">
                <a:solidFill>
                  <a:srgbClr val="CFE8DA"/>
                </a:solidFill>
                <a:latin typeface="Calibri" pitchFamily="34" charset="0"/>
                <a:ea typeface="Calibri" pitchFamily="34" charset="-122"/>
                <a:cs typeface="Calibri" pitchFamily="34" charset="-120"/>
              </a:rPr>
              <a:t>Group Work Submission   </a:t>
            </a:r>
            <a:r>
              <a:rPr lang="en-US" sz="1300" dirty="0">
                <a:solidFill>
                  <a:srgbClr val="2D6A4F"/>
                </a:solidFill>
                <a:latin typeface="Calibri" pitchFamily="34" charset="0"/>
                <a:ea typeface="Calibri" pitchFamily="34" charset="-122"/>
                <a:cs typeface="Calibri" pitchFamily="34" charset="-120"/>
              </a:rPr>
              <a:t>|   </a:t>
            </a:r>
            <a:r>
              <a:rPr lang="en-US" sz="1300" dirty="0">
                <a:solidFill>
                  <a:srgbClr val="CFE8DA"/>
                </a:solidFill>
                <a:latin typeface="Calibri" pitchFamily="34" charset="0"/>
                <a:ea typeface="Calibri" pitchFamily="34" charset="-122"/>
                <a:cs typeface="Calibri" pitchFamily="34" charset="-120"/>
              </a:rPr>
              <a:t>Course: Principles of Business Management and Entrepreneurship   </a:t>
            </a:r>
            <a:endParaRPr lang="en-US" sz="1300" dirty="0"/>
          </a:p>
        </p:txBody>
      </p:sp>
      <p:sp>
        <p:nvSpPr>
          <p:cNvPr id="10" name="Text 7"/>
          <p:cNvSpPr/>
          <p:nvPr/>
        </p:nvSpPr>
        <p:spPr>
          <a:xfrm>
            <a:off x="822960" y="6309360"/>
            <a:ext cx="10515600" cy="365760"/>
          </a:xfrm>
          <a:prstGeom prst="rect">
            <a:avLst/>
          </a:prstGeom>
          <a:noFill/>
          <a:ln/>
        </p:spPr>
        <p:txBody>
          <a:bodyPr wrap="square" rtlCol="0" anchor="ctr"/>
          <a:lstStyle/>
          <a:p>
            <a:pPr marL="0" indent="0">
              <a:buNone/>
            </a:pPr>
            <a:endParaRPr lang="en-US" sz="1300" dirty="0"/>
          </a:p>
        </p:txBody>
      </p:sp>
      <p:sp>
        <p:nvSpPr>
          <p:cNvPr id="12" name="TextBox 11">
            <a:extLst>
              <a:ext uri="{FF2B5EF4-FFF2-40B4-BE49-F238E27FC236}">
                <a16:creationId xmlns:a16="http://schemas.microsoft.com/office/drawing/2014/main" id="{F3A05BAD-63CE-C781-242E-F33F69F81417}"/>
              </a:ext>
            </a:extLst>
          </p:cNvPr>
          <p:cNvSpPr txBox="1"/>
          <p:nvPr/>
        </p:nvSpPr>
        <p:spPr>
          <a:xfrm>
            <a:off x="777240" y="4134088"/>
            <a:ext cx="8686800" cy="369332"/>
          </a:xfrm>
          <a:prstGeom prst="rect">
            <a:avLst/>
          </a:prstGeom>
          <a:noFill/>
        </p:spPr>
        <p:txBody>
          <a:bodyPr wrap="square">
            <a:spAutoFit/>
          </a:bodyPr>
          <a:lstStyle/>
          <a:p>
            <a:pPr marL="0" indent="0">
              <a:buNone/>
            </a:pPr>
            <a:r>
              <a:rPr lang="en-US" sz="1800" b="1" dirty="0">
                <a:solidFill>
                  <a:srgbClr val="F59E0B"/>
                </a:solidFill>
                <a:latin typeface="Calibri" pitchFamily="34" charset="0"/>
                <a:ea typeface="Calibri" pitchFamily="34" charset="-122"/>
                <a:cs typeface="Calibri" pitchFamily="34" charset="-120"/>
              </a:rPr>
              <a:t>Group Members:</a:t>
            </a:r>
          </a:p>
        </p:txBody>
      </p:sp>
      <p:sp>
        <p:nvSpPr>
          <p:cNvPr id="14" name="TextBox 13">
            <a:extLst>
              <a:ext uri="{FF2B5EF4-FFF2-40B4-BE49-F238E27FC236}">
                <a16:creationId xmlns:a16="http://schemas.microsoft.com/office/drawing/2014/main" id="{CBD6EC98-D929-9545-B992-187121DFF4D4}"/>
              </a:ext>
            </a:extLst>
          </p:cNvPr>
          <p:cNvSpPr txBox="1"/>
          <p:nvPr/>
        </p:nvSpPr>
        <p:spPr>
          <a:xfrm>
            <a:off x="729615" y="4470916"/>
            <a:ext cx="8686800" cy="954107"/>
          </a:xfrm>
          <a:prstGeom prst="rect">
            <a:avLst/>
          </a:prstGeom>
          <a:noFill/>
        </p:spPr>
        <p:txBody>
          <a:bodyPr wrap="square">
            <a:spAutoFit/>
          </a:bodyPr>
          <a:lstStyle/>
          <a:p>
            <a:pPr marL="0" indent="0">
              <a:buNone/>
            </a:pPr>
            <a:r>
              <a:rPr lang="en-US" sz="1400" dirty="0">
                <a:solidFill>
                  <a:srgbClr val="CFE8DA"/>
                </a:solidFill>
                <a:latin typeface="Calibri" pitchFamily="34" charset="0"/>
                <a:ea typeface="Calibri" pitchFamily="34" charset="-122"/>
                <a:cs typeface="Calibri" pitchFamily="34" charset="-120"/>
              </a:rPr>
              <a:t>David Ofori </a:t>
            </a:r>
            <a:r>
              <a:rPr lang="en-US" sz="1400" dirty="0" err="1">
                <a:solidFill>
                  <a:srgbClr val="CFE8DA"/>
                </a:solidFill>
                <a:latin typeface="Calibri" pitchFamily="34" charset="0"/>
                <a:ea typeface="Calibri" pitchFamily="34" charset="-122"/>
                <a:cs typeface="Calibri" pitchFamily="34" charset="-120"/>
              </a:rPr>
              <a:t>Abrokwah</a:t>
            </a:r>
            <a:r>
              <a:rPr lang="en-US" sz="1400" dirty="0">
                <a:solidFill>
                  <a:srgbClr val="CFE8DA"/>
                </a:solidFill>
                <a:latin typeface="Calibri" pitchFamily="34" charset="0"/>
                <a:ea typeface="Calibri" pitchFamily="34" charset="-122"/>
                <a:cs typeface="Calibri" pitchFamily="34" charset="-120"/>
              </a:rPr>
              <a:t> — 1703669754</a:t>
            </a:r>
          </a:p>
          <a:p>
            <a:pPr marL="0" indent="0">
              <a:buNone/>
            </a:pPr>
            <a:r>
              <a:rPr lang="en-US" sz="1400" dirty="0">
                <a:solidFill>
                  <a:srgbClr val="CFE8DA"/>
                </a:solidFill>
                <a:latin typeface="Calibri" pitchFamily="34" charset="0"/>
                <a:ea typeface="Calibri" pitchFamily="34" charset="-122"/>
                <a:cs typeface="Calibri" pitchFamily="34" charset="-120"/>
              </a:rPr>
              <a:t>Eric </a:t>
            </a:r>
            <a:r>
              <a:rPr lang="en-US" sz="1400" dirty="0" err="1">
                <a:solidFill>
                  <a:srgbClr val="CFE8DA"/>
                </a:solidFill>
                <a:latin typeface="Calibri" pitchFamily="34" charset="0"/>
                <a:ea typeface="Calibri" pitchFamily="34" charset="-122"/>
                <a:cs typeface="Calibri" pitchFamily="34" charset="-120"/>
              </a:rPr>
              <a:t>Damoah</a:t>
            </a:r>
            <a:r>
              <a:rPr lang="en-US" sz="1400" dirty="0">
                <a:solidFill>
                  <a:srgbClr val="CFE8DA"/>
                </a:solidFill>
                <a:latin typeface="Calibri" pitchFamily="34" charset="0"/>
                <a:ea typeface="Calibri" pitchFamily="34" charset="-122"/>
                <a:cs typeface="Calibri" pitchFamily="34" charset="-120"/>
              </a:rPr>
              <a:t> Owusu — 1688037557</a:t>
            </a:r>
          </a:p>
          <a:p>
            <a:pPr marL="0" indent="0">
              <a:buNone/>
            </a:pPr>
            <a:r>
              <a:rPr lang="en-US" sz="1400" dirty="0">
                <a:solidFill>
                  <a:srgbClr val="CFE8DA"/>
                </a:solidFill>
                <a:latin typeface="Calibri" pitchFamily="34" charset="0"/>
                <a:ea typeface="Calibri" pitchFamily="34" charset="-122"/>
                <a:cs typeface="Calibri" pitchFamily="34" charset="-120"/>
              </a:rPr>
              <a:t>Samuel </a:t>
            </a:r>
            <a:r>
              <a:rPr lang="en-US" sz="1400" dirty="0" err="1">
                <a:solidFill>
                  <a:srgbClr val="CFE8DA"/>
                </a:solidFill>
                <a:latin typeface="Calibri" pitchFamily="34" charset="0"/>
                <a:ea typeface="Calibri" pitchFamily="34" charset="-122"/>
                <a:cs typeface="Calibri" pitchFamily="34" charset="-120"/>
              </a:rPr>
              <a:t>Kissi</a:t>
            </a:r>
            <a:r>
              <a:rPr lang="en-US" sz="1400" dirty="0">
                <a:solidFill>
                  <a:srgbClr val="CFE8DA"/>
                </a:solidFill>
                <a:latin typeface="Calibri" pitchFamily="34" charset="0"/>
                <a:ea typeface="Calibri" pitchFamily="34" charset="-122"/>
                <a:cs typeface="Calibri" pitchFamily="34" charset="-120"/>
              </a:rPr>
              <a:t> — 1706085431</a:t>
            </a:r>
          </a:p>
          <a:p>
            <a:pPr marL="0" indent="0">
              <a:buNone/>
            </a:pPr>
            <a:r>
              <a:rPr lang="en-US" sz="1400" dirty="0">
                <a:solidFill>
                  <a:srgbClr val="CFE8DA"/>
                </a:solidFill>
                <a:latin typeface="Calibri" pitchFamily="34" charset="0"/>
                <a:ea typeface="Calibri" pitchFamily="34" charset="-122"/>
                <a:cs typeface="Calibri" pitchFamily="34" charset="-120"/>
              </a:rPr>
              <a:t>Moses Mak-</a:t>
            </a:r>
            <a:r>
              <a:rPr lang="en-US" sz="1400" dirty="0" err="1">
                <a:solidFill>
                  <a:srgbClr val="CFE8DA"/>
                </a:solidFill>
                <a:latin typeface="Calibri" pitchFamily="34" charset="0"/>
                <a:ea typeface="Calibri" pitchFamily="34" charset="-122"/>
                <a:cs typeface="Calibri" pitchFamily="34" charset="-120"/>
              </a:rPr>
              <a:t>Bissah</a:t>
            </a:r>
            <a:r>
              <a:rPr lang="en-US" sz="1400" dirty="0">
                <a:solidFill>
                  <a:srgbClr val="CFE8DA"/>
                </a:solidFill>
                <a:latin typeface="Calibri" pitchFamily="34" charset="0"/>
                <a:ea typeface="Calibri" pitchFamily="34" charset="-122"/>
                <a:cs typeface="Calibri" pitchFamily="34" charset="-120"/>
              </a:rPr>
              <a:t> — 1706173137</a:t>
            </a:r>
          </a:p>
        </p:txBody>
      </p:sp>
      <p:sp>
        <p:nvSpPr>
          <p:cNvPr id="16" name="TextBox 15">
            <a:extLst>
              <a:ext uri="{FF2B5EF4-FFF2-40B4-BE49-F238E27FC236}">
                <a16:creationId xmlns:a16="http://schemas.microsoft.com/office/drawing/2014/main" id="{02ED536E-1A0A-4CF5-C647-03D45694DF14}"/>
              </a:ext>
            </a:extLst>
          </p:cNvPr>
          <p:cNvSpPr txBox="1"/>
          <p:nvPr/>
        </p:nvSpPr>
        <p:spPr>
          <a:xfrm>
            <a:off x="3914775" y="4466183"/>
            <a:ext cx="8686800" cy="954107"/>
          </a:xfrm>
          <a:prstGeom prst="rect">
            <a:avLst/>
          </a:prstGeom>
          <a:noFill/>
        </p:spPr>
        <p:txBody>
          <a:bodyPr wrap="square">
            <a:spAutoFit/>
          </a:bodyPr>
          <a:lstStyle/>
          <a:p>
            <a:pPr marL="0" indent="0">
              <a:buNone/>
            </a:pPr>
            <a:r>
              <a:rPr lang="en-US" sz="1400" dirty="0">
                <a:solidFill>
                  <a:srgbClr val="CFE8DA"/>
                </a:solidFill>
                <a:latin typeface="Calibri" pitchFamily="34" charset="0"/>
                <a:ea typeface="Calibri" pitchFamily="34" charset="-122"/>
                <a:cs typeface="Calibri" pitchFamily="34" charset="-120"/>
              </a:rPr>
              <a:t>Ebenezer </a:t>
            </a:r>
            <a:r>
              <a:rPr lang="en-US" sz="1400" dirty="0" err="1">
                <a:solidFill>
                  <a:srgbClr val="CFE8DA"/>
                </a:solidFill>
                <a:latin typeface="Calibri" pitchFamily="34" charset="0"/>
                <a:ea typeface="Calibri" pitchFamily="34" charset="-122"/>
                <a:cs typeface="Calibri" pitchFamily="34" charset="-120"/>
              </a:rPr>
              <a:t>Adumuah</a:t>
            </a:r>
            <a:r>
              <a:rPr lang="en-US" sz="1400" dirty="0">
                <a:solidFill>
                  <a:srgbClr val="CFE8DA"/>
                </a:solidFill>
                <a:latin typeface="Calibri" pitchFamily="34" charset="0"/>
                <a:ea typeface="Calibri" pitchFamily="34" charset="-122"/>
                <a:cs typeface="Calibri" pitchFamily="34" charset="-120"/>
              </a:rPr>
              <a:t> </a:t>
            </a:r>
            <a:r>
              <a:rPr lang="en-US" sz="1400" dirty="0" err="1">
                <a:solidFill>
                  <a:srgbClr val="CFE8DA"/>
                </a:solidFill>
                <a:latin typeface="Calibri" pitchFamily="34" charset="0"/>
                <a:ea typeface="Calibri" pitchFamily="34" charset="-122"/>
                <a:cs typeface="Calibri" pitchFamily="34" charset="-120"/>
              </a:rPr>
              <a:t>Nii</a:t>
            </a:r>
            <a:r>
              <a:rPr lang="en-US" sz="1400" dirty="0">
                <a:solidFill>
                  <a:srgbClr val="CFE8DA"/>
                </a:solidFill>
                <a:latin typeface="Calibri" pitchFamily="34" charset="0"/>
                <a:ea typeface="Calibri" pitchFamily="34" charset="-122"/>
                <a:cs typeface="Calibri" pitchFamily="34" charset="-120"/>
              </a:rPr>
              <a:t> </a:t>
            </a:r>
            <a:r>
              <a:rPr lang="en-US" sz="1400" dirty="0" err="1">
                <a:solidFill>
                  <a:srgbClr val="CFE8DA"/>
                </a:solidFill>
                <a:latin typeface="Calibri" pitchFamily="34" charset="0"/>
                <a:ea typeface="Calibri" pitchFamily="34" charset="-122"/>
                <a:cs typeface="Calibri" pitchFamily="34" charset="-120"/>
              </a:rPr>
              <a:t>Noye</a:t>
            </a:r>
            <a:r>
              <a:rPr lang="en-US" sz="1400" dirty="0">
                <a:solidFill>
                  <a:srgbClr val="CFE8DA"/>
                </a:solidFill>
                <a:latin typeface="Calibri" pitchFamily="34" charset="0"/>
                <a:ea typeface="Calibri" pitchFamily="34" charset="-122"/>
                <a:cs typeface="Calibri" pitchFamily="34" charset="-120"/>
              </a:rPr>
              <a:t> — 1704797235</a:t>
            </a:r>
          </a:p>
          <a:p>
            <a:pPr marL="0" indent="0">
              <a:buNone/>
            </a:pPr>
            <a:r>
              <a:rPr lang="en-US" sz="1400" dirty="0">
                <a:solidFill>
                  <a:srgbClr val="CFE8DA"/>
                </a:solidFill>
                <a:latin typeface="Calibri" pitchFamily="34" charset="0"/>
                <a:ea typeface="Calibri" pitchFamily="34" charset="-122"/>
                <a:cs typeface="Calibri" pitchFamily="34" charset="-120"/>
              </a:rPr>
              <a:t>Jerome Ali Yao </a:t>
            </a:r>
            <a:r>
              <a:rPr lang="en-US" sz="1400" dirty="0" err="1">
                <a:solidFill>
                  <a:srgbClr val="CFE8DA"/>
                </a:solidFill>
                <a:latin typeface="Calibri" pitchFamily="34" charset="0"/>
                <a:ea typeface="Calibri" pitchFamily="34" charset="-122"/>
                <a:cs typeface="Calibri" pitchFamily="34" charset="-120"/>
              </a:rPr>
              <a:t>Edem</a:t>
            </a:r>
            <a:r>
              <a:rPr lang="en-US" sz="1400" dirty="0">
                <a:solidFill>
                  <a:srgbClr val="CFE8DA"/>
                </a:solidFill>
                <a:latin typeface="Calibri" pitchFamily="34" charset="0"/>
                <a:ea typeface="Calibri" pitchFamily="34" charset="-122"/>
                <a:cs typeface="Calibri" pitchFamily="34" charset="-120"/>
              </a:rPr>
              <a:t> — 1703174293</a:t>
            </a:r>
          </a:p>
          <a:p>
            <a:pPr marL="0" indent="0">
              <a:buNone/>
            </a:pPr>
            <a:r>
              <a:rPr lang="en-US" sz="1400" dirty="0">
                <a:solidFill>
                  <a:srgbClr val="CFE8DA"/>
                </a:solidFill>
                <a:latin typeface="Calibri" pitchFamily="34" charset="0"/>
                <a:ea typeface="Calibri" pitchFamily="34" charset="-122"/>
                <a:cs typeface="Calibri" pitchFamily="34" charset="-120"/>
              </a:rPr>
              <a:t>David Osei Owusu — 1700489872</a:t>
            </a:r>
          </a:p>
          <a:p>
            <a:pPr marL="0" indent="0">
              <a:buNone/>
            </a:pPr>
            <a:r>
              <a:rPr lang="en-US" sz="1400" dirty="0">
                <a:solidFill>
                  <a:srgbClr val="CFE8DA"/>
                </a:solidFill>
                <a:latin typeface="Calibri" pitchFamily="34" charset="0"/>
                <a:ea typeface="Calibri" pitchFamily="34" charset="-122"/>
                <a:cs typeface="Calibri" pitchFamily="34" charset="-120"/>
              </a:rPr>
              <a:t>Caddilac Akoto Kwasi — 1693505225</a:t>
            </a:r>
            <a:endParaRPr lang="en-US" sz="1400" dirty="0"/>
          </a:p>
        </p:txBody>
      </p:sp>
      <p:sp>
        <p:nvSpPr>
          <p:cNvPr id="18" name="TextBox 17">
            <a:extLst>
              <a:ext uri="{FF2B5EF4-FFF2-40B4-BE49-F238E27FC236}">
                <a16:creationId xmlns:a16="http://schemas.microsoft.com/office/drawing/2014/main" id="{99D3FED4-A5DA-6852-4F63-F345E72E4CF1}"/>
              </a:ext>
            </a:extLst>
          </p:cNvPr>
          <p:cNvSpPr txBox="1"/>
          <p:nvPr/>
        </p:nvSpPr>
        <p:spPr>
          <a:xfrm>
            <a:off x="7526655" y="4499327"/>
            <a:ext cx="8686800" cy="738664"/>
          </a:xfrm>
          <a:prstGeom prst="rect">
            <a:avLst/>
          </a:prstGeom>
          <a:noFill/>
        </p:spPr>
        <p:txBody>
          <a:bodyPr wrap="square">
            <a:spAutoFit/>
          </a:bodyPr>
          <a:lstStyle/>
          <a:p>
            <a:pPr marL="0" indent="0">
              <a:buNone/>
            </a:pPr>
            <a:r>
              <a:rPr lang="en-US" sz="1400" dirty="0">
                <a:solidFill>
                  <a:srgbClr val="CFE8DA"/>
                </a:solidFill>
                <a:latin typeface="Calibri" pitchFamily="34" charset="0"/>
                <a:ea typeface="Calibri" pitchFamily="34" charset="-122"/>
                <a:cs typeface="Calibri" pitchFamily="34" charset="-120"/>
              </a:rPr>
              <a:t>Imrana </a:t>
            </a:r>
            <a:r>
              <a:rPr lang="en-US" sz="1400" dirty="0" err="1">
                <a:solidFill>
                  <a:srgbClr val="CFE8DA"/>
                </a:solidFill>
                <a:latin typeface="Calibri" pitchFamily="34" charset="0"/>
                <a:ea typeface="Calibri" pitchFamily="34" charset="-122"/>
                <a:cs typeface="Calibri" pitchFamily="34" charset="-120"/>
              </a:rPr>
              <a:t>Salis</a:t>
            </a:r>
            <a:r>
              <a:rPr lang="en-US" sz="1400" dirty="0">
                <a:solidFill>
                  <a:srgbClr val="CFE8DA"/>
                </a:solidFill>
                <a:latin typeface="Calibri" pitchFamily="34" charset="0"/>
                <a:ea typeface="Calibri" pitchFamily="34" charset="-122"/>
                <a:cs typeface="Calibri" pitchFamily="34" charset="-120"/>
              </a:rPr>
              <a:t> — 1683472326</a:t>
            </a:r>
          </a:p>
          <a:p>
            <a:pPr marL="0" indent="0">
              <a:buNone/>
            </a:pPr>
            <a:r>
              <a:rPr lang="en-US" sz="1400" dirty="0">
                <a:solidFill>
                  <a:srgbClr val="CFE8DA"/>
                </a:solidFill>
                <a:latin typeface="Calibri" pitchFamily="34" charset="0"/>
                <a:ea typeface="Calibri" pitchFamily="34" charset="-122"/>
                <a:cs typeface="Calibri" pitchFamily="34" charset="-120"/>
              </a:rPr>
              <a:t>Jerry Opoku Nyantakyi — 1704271534</a:t>
            </a:r>
          </a:p>
          <a:p>
            <a:pPr marL="0" indent="0">
              <a:buNone/>
            </a:pPr>
            <a:r>
              <a:rPr lang="en-US" sz="1400" dirty="0">
                <a:solidFill>
                  <a:srgbClr val="CFE8DA"/>
                </a:solidFill>
                <a:latin typeface="Calibri" pitchFamily="34" charset="0"/>
                <a:ea typeface="Calibri" pitchFamily="34" charset="-122"/>
                <a:cs typeface="Calibri" pitchFamily="34" charset="-120"/>
              </a:rPr>
              <a:t>Jr. John </a:t>
            </a:r>
            <a:r>
              <a:rPr lang="en-US" sz="1400" dirty="0" err="1">
                <a:solidFill>
                  <a:srgbClr val="CFE8DA"/>
                </a:solidFill>
                <a:latin typeface="Calibri" pitchFamily="34" charset="0"/>
                <a:ea typeface="Calibri" pitchFamily="34" charset="-122"/>
                <a:cs typeface="Calibri" pitchFamily="34" charset="-120"/>
              </a:rPr>
              <a:t>Kissi</a:t>
            </a:r>
            <a:r>
              <a:rPr lang="en-US" sz="1400" dirty="0">
                <a:solidFill>
                  <a:srgbClr val="CFE8DA"/>
                </a:solidFill>
                <a:latin typeface="Calibri" pitchFamily="34" charset="0"/>
                <a:ea typeface="Calibri" pitchFamily="34" charset="-122"/>
                <a:cs typeface="Calibri" pitchFamily="34" charset="-120"/>
              </a:rPr>
              <a:t> — 1701876554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2D6A4F"/>
                </a:solidFill>
                <a:latin typeface="Calibri" pitchFamily="34" charset="0"/>
                <a:ea typeface="Calibri" pitchFamily="34" charset="-122"/>
                <a:cs typeface="Calibri" pitchFamily="34" charset="-120"/>
              </a:rPr>
              <a:t>BUSINESS CONCEPT</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One idea, three moving parts</a:t>
            </a:r>
            <a:endParaRPr lang="en-US" sz="3200" dirty="0"/>
          </a:p>
        </p:txBody>
      </p:sp>
      <p:sp>
        <p:nvSpPr>
          <p:cNvPr id="4" name="Text 2"/>
          <p:cNvSpPr/>
          <p:nvPr/>
        </p:nvSpPr>
        <p:spPr>
          <a:xfrm>
            <a:off x="548640" y="1417320"/>
            <a:ext cx="10881360" cy="822960"/>
          </a:xfrm>
          <a:prstGeom prst="rect">
            <a:avLst/>
          </a:prstGeom>
          <a:noFill/>
          <a:ln/>
        </p:spPr>
        <p:txBody>
          <a:bodyPr wrap="square" rtlCol="0" anchor="t"/>
          <a:lstStyle/>
          <a:p>
            <a:pPr marL="0" indent="0">
              <a:buNone/>
            </a:pPr>
            <a:r>
              <a:rPr lang="en-US" sz="1500" dirty="0">
                <a:solidFill>
                  <a:srgbClr val="1A1A1A"/>
                </a:solidFill>
                <a:latin typeface="Calibri" pitchFamily="34" charset="0"/>
                <a:ea typeface="Calibri" pitchFamily="34" charset="-122"/>
                <a:cs typeface="Calibri" pitchFamily="34" charset="-120"/>
              </a:rPr>
              <a:t>EcoBin Ghana is a subscription-based waste collection and recycling rewards platform connecting Ghanaian households, schools, restaurants and small businesses to reliable pickup and formal recycling — delivered through a simple mobile app.</a:t>
            </a:r>
            <a:endParaRPr lang="en-US" sz="1500" dirty="0"/>
          </a:p>
        </p:txBody>
      </p:sp>
      <p:sp>
        <p:nvSpPr>
          <p:cNvPr id="5" name="Shape 3"/>
          <p:cNvSpPr/>
          <p:nvPr/>
        </p:nvSpPr>
        <p:spPr>
          <a:xfrm>
            <a:off x="548640" y="2606040"/>
            <a:ext cx="3429000" cy="3200400"/>
          </a:xfrm>
          <a:prstGeom prst="roundRect">
            <a:avLst>
              <a:gd name="adj" fmla="val 2857"/>
            </a:avLst>
          </a:prstGeom>
          <a:solidFill>
            <a:srgbClr val="E8F3EC"/>
          </a:solidFill>
          <a:ln/>
          <a:effectLst>
            <a:outerShdw blurRad="101600" dist="38100" dir="5400000" algn="bl" rotWithShape="0">
              <a:srgbClr val="1B4332">
                <a:alpha val="15000"/>
              </a:srgbClr>
            </a:outerShdw>
          </a:effectLst>
        </p:spPr>
      </p:sp>
      <p:sp>
        <p:nvSpPr>
          <p:cNvPr id="6" name="Shape 4"/>
          <p:cNvSpPr/>
          <p:nvPr/>
        </p:nvSpPr>
        <p:spPr>
          <a:xfrm>
            <a:off x="868680" y="2971800"/>
            <a:ext cx="777240" cy="777240"/>
          </a:xfrm>
          <a:prstGeom prst="ellipse">
            <a:avLst/>
          </a:prstGeom>
          <a:solidFill>
            <a:srgbClr val="1B4332"/>
          </a:solidFill>
          <a:ln/>
        </p:spPr>
      </p:sp>
      <p:pic>
        <p:nvPicPr>
          <p:cNvPr id="7" name="Image 0" descr="/home/claude/work/icons/mobile_FFFFFF.png"/>
          <p:cNvPicPr>
            <a:picLocks noChangeAspect="1"/>
          </p:cNvPicPr>
          <p:nvPr/>
        </p:nvPicPr>
        <p:blipFill>
          <a:blip r:embed="rId3"/>
          <a:stretch>
            <a:fillRect/>
          </a:stretch>
        </p:blipFill>
        <p:spPr>
          <a:xfrm>
            <a:off x="1070762" y="3173882"/>
            <a:ext cx="373075" cy="373075"/>
          </a:xfrm>
          <a:prstGeom prst="rect">
            <a:avLst/>
          </a:prstGeom>
        </p:spPr>
      </p:pic>
      <p:sp>
        <p:nvSpPr>
          <p:cNvPr id="8" name="Text 5"/>
          <p:cNvSpPr/>
          <p:nvPr/>
        </p:nvSpPr>
        <p:spPr>
          <a:xfrm>
            <a:off x="868680" y="3931920"/>
            <a:ext cx="2788920" cy="411480"/>
          </a:xfrm>
          <a:prstGeom prst="rect">
            <a:avLst/>
          </a:prstGeom>
          <a:noFill/>
          <a:ln/>
        </p:spPr>
        <p:txBody>
          <a:bodyPr wrap="square" rtlCol="0" anchor="ctr"/>
          <a:lstStyle/>
          <a:p>
            <a:pPr marL="0" indent="0">
              <a:buNone/>
            </a:pPr>
            <a:r>
              <a:rPr lang="en-US" sz="2000" b="1" dirty="0">
                <a:solidFill>
                  <a:srgbClr val="1B4332"/>
                </a:solidFill>
                <a:latin typeface="Cambria" pitchFamily="34" charset="0"/>
                <a:ea typeface="Cambria" pitchFamily="34" charset="-122"/>
                <a:cs typeface="Cambria" pitchFamily="34" charset="-120"/>
              </a:rPr>
              <a:t>Schedule</a:t>
            </a:r>
            <a:endParaRPr lang="en-US" sz="2000" dirty="0"/>
          </a:p>
        </p:txBody>
      </p:sp>
      <p:sp>
        <p:nvSpPr>
          <p:cNvPr id="9" name="Text 6"/>
          <p:cNvSpPr/>
          <p:nvPr/>
        </p:nvSpPr>
        <p:spPr>
          <a:xfrm>
            <a:off x="868680" y="4389120"/>
            <a:ext cx="2788920" cy="128016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Households and businesses book recurring or on-demand pickups through the app.</a:t>
            </a:r>
            <a:endParaRPr lang="en-US" sz="1300" dirty="0"/>
          </a:p>
        </p:txBody>
      </p:sp>
      <p:sp>
        <p:nvSpPr>
          <p:cNvPr id="10" name="Shape 7"/>
          <p:cNvSpPr/>
          <p:nvPr/>
        </p:nvSpPr>
        <p:spPr>
          <a:xfrm>
            <a:off x="4297680" y="2606040"/>
            <a:ext cx="3429000" cy="3200400"/>
          </a:xfrm>
          <a:prstGeom prst="roundRect">
            <a:avLst>
              <a:gd name="adj" fmla="val 2857"/>
            </a:avLst>
          </a:prstGeom>
          <a:solidFill>
            <a:srgbClr val="E8F3EC"/>
          </a:solidFill>
          <a:ln/>
          <a:effectLst>
            <a:outerShdw blurRad="101600" dist="38100" dir="5400000" algn="bl" rotWithShape="0">
              <a:srgbClr val="1B4332">
                <a:alpha val="15000"/>
              </a:srgbClr>
            </a:outerShdw>
          </a:effectLst>
        </p:spPr>
      </p:sp>
      <p:sp>
        <p:nvSpPr>
          <p:cNvPr id="11" name="Shape 8"/>
          <p:cNvSpPr/>
          <p:nvPr/>
        </p:nvSpPr>
        <p:spPr>
          <a:xfrm>
            <a:off x="4617720" y="2971800"/>
            <a:ext cx="777240" cy="777240"/>
          </a:xfrm>
          <a:prstGeom prst="ellipse">
            <a:avLst/>
          </a:prstGeom>
          <a:solidFill>
            <a:srgbClr val="1B4332"/>
          </a:solidFill>
          <a:ln/>
        </p:spPr>
      </p:sp>
      <p:pic>
        <p:nvPicPr>
          <p:cNvPr id="12" name="Image 1" descr="/home/claude/work/icons/recycle_FFFFFF.png"/>
          <p:cNvPicPr>
            <a:picLocks noChangeAspect="1"/>
          </p:cNvPicPr>
          <p:nvPr/>
        </p:nvPicPr>
        <p:blipFill>
          <a:blip r:embed="rId4"/>
          <a:stretch>
            <a:fillRect/>
          </a:stretch>
        </p:blipFill>
        <p:spPr>
          <a:xfrm>
            <a:off x="4819802" y="3173882"/>
            <a:ext cx="373075" cy="373075"/>
          </a:xfrm>
          <a:prstGeom prst="rect">
            <a:avLst/>
          </a:prstGeom>
        </p:spPr>
      </p:pic>
      <p:sp>
        <p:nvSpPr>
          <p:cNvPr id="13" name="Text 9"/>
          <p:cNvSpPr/>
          <p:nvPr/>
        </p:nvSpPr>
        <p:spPr>
          <a:xfrm>
            <a:off x="4617720" y="3931920"/>
            <a:ext cx="2788920" cy="411480"/>
          </a:xfrm>
          <a:prstGeom prst="rect">
            <a:avLst/>
          </a:prstGeom>
          <a:noFill/>
          <a:ln/>
        </p:spPr>
        <p:txBody>
          <a:bodyPr wrap="square" rtlCol="0" anchor="ctr"/>
          <a:lstStyle/>
          <a:p>
            <a:pPr marL="0" indent="0">
              <a:buNone/>
            </a:pPr>
            <a:r>
              <a:rPr lang="en-US" sz="2000" b="1" dirty="0">
                <a:solidFill>
                  <a:srgbClr val="1B4332"/>
                </a:solidFill>
                <a:latin typeface="Cambria" pitchFamily="34" charset="0"/>
                <a:ea typeface="Cambria" pitchFamily="34" charset="-122"/>
                <a:cs typeface="Cambria" pitchFamily="34" charset="-120"/>
              </a:rPr>
              <a:t>Separate</a:t>
            </a:r>
            <a:endParaRPr lang="en-US" sz="2000" dirty="0"/>
          </a:p>
        </p:txBody>
      </p:sp>
      <p:sp>
        <p:nvSpPr>
          <p:cNvPr id="14" name="Text 10"/>
          <p:cNvSpPr/>
          <p:nvPr/>
        </p:nvSpPr>
        <p:spPr>
          <a:xfrm>
            <a:off x="4617720" y="4389120"/>
            <a:ext cx="2788920" cy="128016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Recyclables are sorted at source into labeled bins and bags for formal processing.</a:t>
            </a:r>
            <a:endParaRPr lang="en-US" sz="1300" dirty="0"/>
          </a:p>
        </p:txBody>
      </p:sp>
      <p:sp>
        <p:nvSpPr>
          <p:cNvPr id="15" name="Shape 11"/>
          <p:cNvSpPr/>
          <p:nvPr/>
        </p:nvSpPr>
        <p:spPr>
          <a:xfrm>
            <a:off x="8046720" y="2606040"/>
            <a:ext cx="3429000" cy="3200400"/>
          </a:xfrm>
          <a:prstGeom prst="roundRect">
            <a:avLst>
              <a:gd name="adj" fmla="val 2857"/>
            </a:avLst>
          </a:prstGeom>
          <a:solidFill>
            <a:srgbClr val="E8F3EC"/>
          </a:solidFill>
          <a:ln/>
          <a:effectLst>
            <a:outerShdw blurRad="101600" dist="38100" dir="5400000" algn="bl" rotWithShape="0">
              <a:srgbClr val="1B4332">
                <a:alpha val="15000"/>
              </a:srgbClr>
            </a:outerShdw>
          </a:effectLst>
        </p:spPr>
      </p:sp>
      <p:sp>
        <p:nvSpPr>
          <p:cNvPr id="16" name="Shape 12"/>
          <p:cNvSpPr/>
          <p:nvPr/>
        </p:nvSpPr>
        <p:spPr>
          <a:xfrm>
            <a:off x="8366760" y="2971800"/>
            <a:ext cx="777240" cy="777240"/>
          </a:xfrm>
          <a:prstGeom prst="ellipse">
            <a:avLst/>
          </a:prstGeom>
          <a:solidFill>
            <a:srgbClr val="1B4332"/>
          </a:solidFill>
          <a:ln/>
        </p:spPr>
      </p:sp>
      <p:pic>
        <p:nvPicPr>
          <p:cNvPr id="17" name="Image 2" descr="/home/claude/work/icons/star_FFFFFF.png"/>
          <p:cNvPicPr>
            <a:picLocks noChangeAspect="1"/>
          </p:cNvPicPr>
          <p:nvPr/>
        </p:nvPicPr>
        <p:blipFill>
          <a:blip r:embed="rId5"/>
          <a:stretch>
            <a:fillRect/>
          </a:stretch>
        </p:blipFill>
        <p:spPr>
          <a:xfrm>
            <a:off x="8568842" y="3173882"/>
            <a:ext cx="373075" cy="373075"/>
          </a:xfrm>
          <a:prstGeom prst="rect">
            <a:avLst/>
          </a:prstGeom>
        </p:spPr>
      </p:pic>
      <p:sp>
        <p:nvSpPr>
          <p:cNvPr id="18" name="Text 13"/>
          <p:cNvSpPr/>
          <p:nvPr/>
        </p:nvSpPr>
        <p:spPr>
          <a:xfrm>
            <a:off x="8366760" y="3931920"/>
            <a:ext cx="2788920" cy="411480"/>
          </a:xfrm>
          <a:prstGeom prst="rect">
            <a:avLst/>
          </a:prstGeom>
          <a:noFill/>
          <a:ln/>
        </p:spPr>
        <p:txBody>
          <a:bodyPr wrap="square" rtlCol="0" anchor="ctr"/>
          <a:lstStyle/>
          <a:p>
            <a:pPr marL="0" indent="0">
              <a:buNone/>
            </a:pPr>
            <a:r>
              <a:rPr lang="en-US" sz="2000" b="1" dirty="0">
                <a:solidFill>
                  <a:srgbClr val="1B4332"/>
                </a:solidFill>
                <a:latin typeface="Cambria" pitchFamily="34" charset="0"/>
                <a:ea typeface="Cambria" pitchFamily="34" charset="-122"/>
                <a:cs typeface="Cambria" pitchFamily="34" charset="-120"/>
              </a:rPr>
              <a:t>Earn</a:t>
            </a:r>
            <a:endParaRPr lang="en-US" sz="2000" dirty="0"/>
          </a:p>
        </p:txBody>
      </p:sp>
      <p:sp>
        <p:nvSpPr>
          <p:cNvPr id="19" name="Text 14"/>
          <p:cNvSpPr/>
          <p:nvPr/>
        </p:nvSpPr>
        <p:spPr>
          <a:xfrm>
            <a:off x="8366760" y="4389120"/>
            <a:ext cx="2788920" cy="128016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Customers earn reward points for recycling, redeemable for airtime, vouchers and discounts.</a:t>
            </a:r>
            <a:endParaRPr lang="en-US" sz="1300" dirty="0"/>
          </a:p>
        </p:txBody>
      </p:sp>
      <p:sp>
        <p:nvSpPr>
          <p:cNvPr id="20" name="Text 15"/>
          <p:cNvSpPr/>
          <p:nvPr/>
        </p:nvSpPr>
        <p:spPr>
          <a:xfrm>
            <a:off x="11430000" y="6446520"/>
            <a:ext cx="548640" cy="320040"/>
          </a:xfrm>
          <a:prstGeom prst="rect">
            <a:avLst/>
          </a:prstGeom>
          <a:noFill/>
          <a:ln/>
        </p:spPr>
        <p:txBody>
          <a:bodyPr wrap="square" rtlCol="0" anchor="ctr"/>
          <a:lstStyle/>
          <a:p>
            <a:pPr marL="0" indent="0" algn="r">
              <a:buNone/>
            </a:pPr>
            <a:r>
              <a:rPr lang="en-US" sz="1000" dirty="0">
                <a:solidFill>
                  <a:srgbClr val="5B6B63"/>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2D6A4F"/>
                </a:solidFill>
                <a:latin typeface="Calibri" pitchFamily="34" charset="0"/>
                <a:ea typeface="Calibri" pitchFamily="34" charset="-122"/>
                <a:cs typeface="Calibri" pitchFamily="34" charset="-120"/>
              </a:rPr>
              <a:t>DESCRIPTION OF THE OPPORTUNITY</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A problem Ghanaian communities live with daily</a:t>
            </a:r>
            <a:endParaRPr lang="en-US" sz="3200" dirty="0"/>
          </a:p>
        </p:txBody>
      </p:sp>
      <p:sp>
        <p:nvSpPr>
          <p:cNvPr id="4" name="Shape 2"/>
          <p:cNvSpPr/>
          <p:nvPr/>
        </p:nvSpPr>
        <p:spPr>
          <a:xfrm>
            <a:off x="548640" y="1664208"/>
            <a:ext cx="128016" cy="128016"/>
          </a:xfrm>
          <a:prstGeom prst="ellipse">
            <a:avLst/>
          </a:prstGeom>
          <a:solidFill>
            <a:srgbClr val="F59E0B"/>
          </a:solidFill>
          <a:ln/>
        </p:spPr>
      </p:sp>
      <p:sp>
        <p:nvSpPr>
          <p:cNvPr id="5" name="Text 3"/>
          <p:cNvSpPr/>
          <p:nvPr/>
        </p:nvSpPr>
        <p:spPr>
          <a:xfrm>
            <a:off x="868680" y="1508760"/>
            <a:ext cx="6309360" cy="502920"/>
          </a:xfrm>
          <a:prstGeom prst="rect">
            <a:avLst/>
          </a:prstGeom>
          <a:noFill/>
          <a:ln/>
        </p:spPr>
        <p:txBody>
          <a:bodyPr wrap="square" rtlCol="0" anchor="t"/>
          <a:lstStyle/>
          <a:p>
            <a:pPr marL="0" indent="0">
              <a:buNone/>
            </a:pPr>
            <a:r>
              <a:rPr lang="en-US" sz="1500" dirty="0">
                <a:solidFill>
                  <a:srgbClr val="1A1A1A"/>
                </a:solidFill>
                <a:latin typeface="Calibri" pitchFamily="34" charset="0"/>
                <a:ea typeface="Calibri" pitchFamily="34" charset="-122"/>
                <a:cs typeface="Calibri" pitchFamily="34" charset="-120"/>
              </a:rPr>
              <a:t>Irregular waste collection in many residential estates and neighborhoods</a:t>
            </a:r>
            <a:endParaRPr lang="en-US" sz="1500" dirty="0"/>
          </a:p>
        </p:txBody>
      </p:sp>
      <p:sp>
        <p:nvSpPr>
          <p:cNvPr id="6" name="Shape 4"/>
          <p:cNvSpPr/>
          <p:nvPr/>
        </p:nvSpPr>
        <p:spPr>
          <a:xfrm>
            <a:off x="548640" y="2231136"/>
            <a:ext cx="128016" cy="128016"/>
          </a:xfrm>
          <a:prstGeom prst="ellipse">
            <a:avLst/>
          </a:prstGeom>
          <a:solidFill>
            <a:srgbClr val="F59E0B"/>
          </a:solidFill>
          <a:ln/>
        </p:spPr>
      </p:sp>
      <p:sp>
        <p:nvSpPr>
          <p:cNvPr id="7" name="Text 5"/>
          <p:cNvSpPr/>
          <p:nvPr/>
        </p:nvSpPr>
        <p:spPr>
          <a:xfrm>
            <a:off x="868680" y="2075688"/>
            <a:ext cx="6309360" cy="502920"/>
          </a:xfrm>
          <a:prstGeom prst="rect">
            <a:avLst/>
          </a:prstGeom>
          <a:noFill/>
          <a:ln/>
        </p:spPr>
        <p:txBody>
          <a:bodyPr wrap="square" rtlCol="0" anchor="t"/>
          <a:lstStyle/>
          <a:p>
            <a:pPr marL="0" indent="0">
              <a:buNone/>
            </a:pPr>
            <a:r>
              <a:rPr lang="en-US" sz="1500" dirty="0">
                <a:solidFill>
                  <a:srgbClr val="1A1A1A"/>
                </a:solidFill>
                <a:latin typeface="Calibri" pitchFamily="34" charset="0"/>
                <a:ea typeface="Calibri" pitchFamily="34" charset="-122"/>
                <a:cs typeface="Calibri" pitchFamily="34" charset="-120"/>
              </a:rPr>
              <a:t>Overflowing communal bins between pickups</a:t>
            </a:r>
            <a:endParaRPr lang="en-US" sz="1500" dirty="0"/>
          </a:p>
        </p:txBody>
      </p:sp>
      <p:sp>
        <p:nvSpPr>
          <p:cNvPr id="8" name="Shape 6"/>
          <p:cNvSpPr/>
          <p:nvPr/>
        </p:nvSpPr>
        <p:spPr>
          <a:xfrm>
            <a:off x="548640" y="2798064"/>
            <a:ext cx="128016" cy="128016"/>
          </a:xfrm>
          <a:prstGeom prst="ellipse">
            <a:avLst/>
          </a:prstGeom>
          <a:solidFill>
            <a:srgbClr val="F59E0B"/>
          </a:solidFill>
          <a:ln/>
        </p:spPr>
      </p:sp>
      <p:sp>
        <p:nvSpPr>
          <p:cNvPr id="9" name="Text 7"/>
          <p:cNvSpPr/>
          <p:nvPr/>
        </p:nvSpPr>
        <p:spPr>
          <a:xfrm>
            <a:off x="868680" y="2642616"/>
            <a:ext cx="6309360" cy="502920"/>
          </a:xfrm>
          <a:prstGeom prst="rect">
            <a:avLst/>
          </a:prstGeom>
          <a:noFill/>
          <a:ln/>
        </p:spPr>
        <p:txBody>
          <a:bodyPr wrap="square" rtlCol="0" anchor="t"/>
          <a:lstStyle/>
          <a:p>
            <a:pPr marL="0" indent="0">
              <a:buNone/>
            </a:pPr>
            <a:r>
              <a:rPr lang="en-US" sz="1500" dirty="0">
                <a:solidFill>
                  <a:srgbClr val="1A1A1A"/>
                </a:solidFill>
                <a:latin typeface="Calibri" pitchFamily="34" charset="0"/>
                <a:ea typeface="Calibri" pitchFamily="34" charset="-122"/>
                <a:cs typeface="Calibri" pitchFamily="34" charset="-120"/>
              </a:rPr>
              <a:t>Widespread plastic waste and littering in urban areas</a:t>
            </a:r>
            <a:endParaRPr lang="en-US" sz="1500" dirty="0"/>
          </a:p>
        </p:txBody>
      </p:sp>
      <p:sp>
        <p:nvSpPr>
          <p:cNvPr id="10" name="Shape 8"/>
          <p:cNvSpPr/>
          <p:nvPr/>
        </p:nvSpPr>
        <p:spPr>
          <a:xfrm>
            <a:off x="548640" y="3364992"/>
            <a:ext cx="128016" cy="128016"/>
          </a:xfrm>
          <a:prstGeom prst="ellipse">
            <a:avLst/>
          </a:prstGeom>
          <a:solidFill>
            <a:srgbClr val="F59E0B"/>
          </a:solidFill>
          <a:ln/>
        </p:spPr>
      </p:sp>
      <p:sp>
        <p:nvSpPr>
          <p:cNvPr id="11" name="Text 9"/>
          <p:cNvSpPr/>
          <p:nvPr/>
        </p:nvSpPr>
        <p:spPr>
          <a:xfrm>
            <a:off x="868680" y="3209544"/>
            <a:ext cx="6309360" cy="502920"/>
          </a:xfrm>
          <a:prstGeom prst="rect">
            <a:avLst/>
          </a:prstGeom>
          <a:noFill/>
          <a:ln/>
        </p:spPr>
        <p:txBody>
          <a:bodyPr wrap="square" rtlCol="0" anchor="t"/>
          <a:lstStyle/>
          <a:p>
            <a:pPr marL="0" indent="0">
              <a:buNone/>
            </a:pPr>
            <a:r>
              <a:rPr lang="en-US" sz="1500" dirty="0">
                <a:solidFill>
                  <a:srgbClr val="1A1A1A"/>
                </a:solidFill>
                <a:latin typeface="Calibri" pitchFamily="34" charset="0"/>
                <a:ea typeface="Calibri" pitchFamily="34" charset="-122"/>
                <a:cs typeface="Calibri" pitchFamily="34" charset="-120"/>
              </a:rPr>
              <a:t>A weak culture of source-separation and recycling among households</a:t>
            </a:r>
            <a:endParaRPr lang="en-US" sz="1500" dirty="0"/>
          </a:p>
        </p:txBody>
      </p:sp>
      <p:sp>
        <p:nvSpPr>
          <p:cNvPr id="12" name="Shape 10"/>
          <p:cNvSpPr/>
          <p:nvPr/>
        </p:nvSpPr>
        <p:spPr>
          <a:xfrm>
            <a:off x="7360920" y="1554480"/>
            <a:ext cx="4251960" cy="4480560"/>
          </a:xfrm>
          <a:prstGeom prst="roundRect">
            <a:avLst>
              <a:gd name="adj" fmla="val 2151"/>
            </a:avLst>
          </a:prstGeom>
          <a:solidFill>
            <a:srgbClr val="1B4332"/>
          </a:solidFill>
          <a:ln/>
        </p:spPr>
      </p:sp>
      <p:sp>
        <p:nvSpPr>
          <p:cNvPr id="13" name="Text 11"/>
          <p:cNvSpPr/>
          <p:nvPr/>
        </p:nvSpPr>
        <p:spPr>
          <a:xfrm>
            <a:off x="7680960" y="1783080"/>
            <a:ext cx="3657600" cy="320040"/>
          </a:xfrm>
          <a:prstGeom prst="rect">
            <a:avLst/>
          </a:prstGeom>
          <a:noFill/>
          <a:ln/>
        </p:spPr>
        <p:txBody>
          <a:bodyPr wrap="square" rtlCol="0" anchor="ctr"/>
          <a:lstStyle/>
          <a:p>
            <a:pPr marL="0" indent="0">
              <a:buNone/>
            </a:pPr>
            <a:r>
              <a:rPr lang="en-US" sz="1200" b="1" kern="0" spc="200" dirty="0">
                <a:solidFill>
                  <a:srgbClr val="F59E0B"/>
                </a:solidFill>
                <a:latin typeface="Calibri" pitchFamily="34" charset="0"/>
                <a:ea typeface="Calibri" pitchFamily="34" charset="-122"/>
                <a:cs typeface="Calibri" pitchFamily="34" charset="-120"/>
              </a:rPr>
              <a:t>THE EVIDENCE</a:t>
            </a:r>
            <a:endParaRPr lang="en-US" sz="1200" dirty="0"/>
          </a:p>
        </p:txBody>
      </p:sp>
      <p:sp>
        <p:nvSpPr>
          <p:cNvPr id="14" name="Text 12"/>
          <p:cNvSpPr/>
          <p:nvPr/>
        </p:nvSpPr>
        <p:spPr>
          <a:xfrm>
            <a:off x="7680960" y="2194560"/>
            <a:ext cx="3566160" cy="155448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Recent disruption to a major national sanitation contract has been followed by visible increases in choked gutters, uncollected refuse and flooding in Accra and other cities — a direct sign of how thin the formal collection safety net already is.</a:t>
            </a:r>
            <a:endParaRPr lang="en-US" sz="1300" dirty="0"/>
          </a:p>
        </p:txBody>
      </p:sp>
      <p:sp>
        <p:nvSpPr>
          <p:cNvPr id="15" name="Shape 13"/>
          <p:cNvSpPr/>
          <p:nvPr/>
        </p:nvSpPr>
        <p:spPr>
          <a:xfrm>
            <a:off x="7680960" y="3886200"/>
            <a:ext cx="3566160" cy="18288"/>
          </a:xfrm>
          <a:prstGeom prst="rect">
            <a:avLst/>
          </a:prstGeom>
          <a:solidFill>
            <a:srgbClr val="2D6A4F"/>
          </a:solidFill>
          <a:ln/>
        </p:spPr>
      </p:sp>
      <p:sp>
        <p:nvSpPr>
          <p:cNvPr id="16" name="Text 14"/>
          <p:cNvSpPr/>
          <p:nvPr/>
        </p:nvSpPr>
        <p:spPr>
          <a:xfrm>
            <a:off x="7680960" y="4114800"/>
            <a:ext cx="3566160" cy="1463040"/>
          </a:xfrm>
          <a:prstGeom prst="rect">
            <a:avLst/>
          </a:prstGeom>
          <a:noFill/>
          <a:ln/>
        </p:spPr>
        <p:txBody>
          <a:bodyPr wrap="square" rtlCol="0" anchor="t"/>
          <a:lstStyle/>
          <a:p>
            <a:pPr marL="0" indent="0">
              <a:buNone/>
            </a:pPr>
            <a:r>
              <a:rPr lang="en-US" sz="1300" i="1" dirty="0">
                <a:solidFill>
                  <a:srgbClr val="CFE8DA"/>
                </a:solidFill>
                <a:latin typeface="Calibri" pitchFamily="34" charset="0"/>
                <a:ea typeface="Calibri" pitchFamily="34" charset="-122"/>
                <a:cs typeface="Calibri" pitchFamily="34" charset="-120"/>
              </a:rPr>
              <a:t>Ghana's fast-growing cities generate an estimated several thousand tonnes of solid waste every day, far outpacing formal recycling capacity.</a:t>
            </a:r>
            <a:endParaRPr lang="en-US" sz="1300" dirty="0"/>
          </a:p>
        </p:txBody>
      </p:sp>
      <p:sp>
        <p:nvSpPr>
          <p:cNvPr id="17" name="Text 15"/>
          <p:cNvSpPr/>
          <p:nvPr/>
        </p:nvSpPr>
        <p:spPr>
          <a:xfrm>
            <a:off x="11430000" y="6446520"/>
            <a:ext cx="548640" cy="320040"/>
          </a:xfrm>
          <a:prstGeom prst="rect">
            <a:avLst/>
          </a:prstGeom>
          <a:noFill/>
          <a:ln/>
        </p:spPr>
        <p:txBody>
          <a:bodyPr wrap="square" rtlCol="0" anchor="ctr"/>
          <a:lstStyle/>
          <a:p>
            <a:pPr marL="0" indent="0" algn="r">
              <a:buNone/>
            </a:pPr>
            <a:r>
              <a:rPr lang="en-US" sz="1000" dirty="0">
                <a:solidFill>
                  <a:srgbClr val="5B6B63"/>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2D6A4F"/>
                </a:solidFill>
                <a:latin typeface="Calibri" pitchFamily="34" charset="0"/>
                <a:ea typeface="Calibri" pitchFamily="34" charset="-122"/>
                <a:cs typeface="Calibri" pitchFamily="34" charset="-120"/>
              </a:rPr>
              <a:t>DESCRIPTION OF THE OPPORTUNITY</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Who feels it, and is it worth solving?</a:t>
            </a:r>
            <a:endParaRPr lang="en-US" sz="3200" dirty="0"/>
          </a:p>
        </p:txBody>
      </p:sp>
      <p:sp>
        <p:nvSpPr>
          <p:cNvPr id="4" name="Text 2"/>
          <p:cNvSpPr/>
          <p:nvPr/>
        </p:nvSpPr>
        <p:spPr>
          <a:xfrm>
            <a:off x="548640" y="1508760"/>
            <a:ext cx="5486400" cy="365760"/>
          </a:xfrm>
          <a:prstGeom prst="rect">
            <a:avLst/>
          </a:prstGeom>
          <a:noFill/>
          <a:ln/>
        </p:spPr>
        <p:txBody>
          <a:bodyPr wrap="square" rtlCol="0" anchor="ctr"/>
          <a:lstStyle/>
          <a:p>
            <a:pPr marL="0" indent="0">
              <a:buNone/>
            </a:pPr>
            <a:r>
              <a:rPr lang="en-US" sz="1700" b="1" dirty="0">
                <a:solidFill>
                  <a:srgbClr val="1B4332"/>
                </a:solidFill>
                <a:latin typeface="Cambria" pitchFamily="34" charset="0"/>
                <a:ea typeface="Cambria" pitchFamily="34" charset="-122"/>
                <a:cs typeface="Cambria" pitchFamily="34" charset="-120"/>
              </a:rPr>
              <a:t>Groups experiencing the problem</a:t>
            </a:r>
            <a:endParaRPr lang="en-US" sz="1700" dirty="0"/>
          </a:p>
        </p:txBody>
      </p:sp>
      <p:sp>
        <p:nvSpPr>
          <p:cNvPr id="5" name="Shape 3"/>
          <p:cNvSpPr/>
          <p:nvPr/>
        </p:nvSpPr>
        <p:spPr>
          <a:xfrm>
            <a:off x="548640" y="2011680"/>
            <a:ext cx="502920" cy="502920"/>
          </a:xfrm>
          <a:prstGeom prst="ellipse">
            <a:avLst/>
          </a:prstGeom>
          <a:solidFill>
            <a:srgbClr val="E8F3EC"/>
          </a:solidFill>
          <a:ln/>
        </p:spPr>
      </p:sp>
      <p:pic>
        <p:nvPicPr>
          <p:cNvPr id="6" name="Image 0" descr="/home/claude/work/icons/home_1B4332.png"/>
          <p:cNvPicPr>
            <a:picLocks noChangeAspect="1"/>
          </p:cNvPicPr>
          <p:nvPr/>
        </p:nvPicPr>
        <p:blipFill>
          <a:blip r:embed="rId3"/>
          <a:stretch>
            <a:fillRect/>
          </a:stretch>
        </p:blipFill>
        <p:spPr>
          <a:xfrm>
            <a:off x="679399" y="2142439"/>
            <a:ext cx="241402" cy="241402"/>
          </a:xfrm>
          <a:prstGeom prst="rect">
            <a:avLst/>
          </a:prstGeom>
        </p:spPr>
      </p:pic>
      <p:sp>
        <p:nvSpPr>
          <p:cNvPr id="7" name="Text 4"/>
          <p:cNvSpPr/>
          <p:nvPr/>
        </p:nvSpPr>
        <p:spPr>
          <a:xfrm>
            <a:off x="1234440" y="1993392"/>
            <a:ext cx="2103120" cy="32004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Households</a:t>
            </a:r>
            <a:endParaRPr lang="en-US" sz="1400" dirty="0"/>
          </a:p>
        </p:txBody>
      </p:sp>
      <p:sp>
        <p:nvSpPr>
          <p:cNvPr id="8" name="Text 5"/>
          <p:cNvSpPr/>
          <p:nvPr/>
        </p:nvSpPr>
        <p:spPr>
          <a:xfrm>
            <a:off x="1234440" y="2304288"/>
            <a:ext cx="4572000" cy="457200"/>
          </a:xfrm>
          <a:prstGeom prst="rect">
            <a:avLst/>
          </a:prstGeom>
          <a:noFill/>
          <a:ln/>
        </p:spPr>
        <p:txBody>
          <a:bodyPr wrap="square" rtlCol="0" anchor="t"/>
          <a:lstStyle/>
          <a:p>
            <a:pPr marL="0" indent="0">
              <a:buNone/>
            </a:pPr>
            <a:r>
              <a:rPr lang="en-US" sz="1200" dirty="0">
                <a:solidFill>
                  <a:srgbClr val="5B6B63"/>
                </a:solidFill>
                <a:latin typeface="Calibri" pitchFamily="34" charset="0"/>
                <a:ea typeface="Calibri" pitchFamily="34" charset="-122"/>
                <a:cs typeface="Calibri" pitchFamily="34" charset="-120"/>
              </a:rPr>
              <a:t>Estates &amp; suburban neighborhoods with inconsistent pickup</a:t>
            </a:r>
            <a:endParaRPr lang="en-US" sz="1200" dirty="0"/>
          </a:p>
        </p:txBody>
      </p:sp>
      <p:sp>
        <p:nvSpPr>
          <p:cNvPr id="9" name="Shape 6"/>
          <p:cNvSpPr/>
          <p:nvPr/>
        </p:nvSpPr>
        <p:spPr>
          <a:xfrm>
            <a:off x="548640" y="2880360"/>
            <a:ext cx="502920" cy="502920"/>
          </a:xfrm>
          <a:prstGeom prst="ellipse">
            <a:avLst/>
          </a:prstGeom>
          <a:solidFill>
            <a:srgbClr val="E8F3EC"/>
          </a:solidFill>
          <a:ln/>
        </p:spPr>
      </p:sp>
      <p:pic>
        <p:nvPicPr>
          <p:cNvPr id="10" name="Image 1" descr="/home/claude/work/icons/school_1B4332.png"/>
          <p:cNvPicPr>
            <a:picLocks noChangeAspect="1"/>
          </p:cNvPicPr>
          <p:nvPr/>
        </p:nvPicPr>
        <p:blipFill>
          <a:blip r:embed="rId4"/>
          <a:stretch>
            <a:fillRect/>
          </a:stretch>
        </p:blipFill>
        <p:spPr>
          <a:xfrm>
            <a:off x="679399" y="3011119"/>
            <a:ext cx="241402" cy="241402"/>
          </a:xfrm>
          <a:prstGeom prst="rect">
            <a:avLst/>
          </a:prstGeom>
        </p:spPr>
      </p:pic>
      <p:sp>
        <p:nvSpPr>
          <p:cNvPr id="11" name="Text 7"/>
          <p:cNvSpPr/>
          <p:nvPr/>
        </p:nvSpPr>
        <p:spPr>
          <a:xfrm>
            <a:off x="1234440" y="2862072"/>
            <a:ext cx="2103120" cy="32004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Schools</a:t>
            </a:r>
            <a:endParaRPr lang="en-US" sz="1400" dirty="0"/>
          </a:p>
        </p:txBody>
      </p:sp>
      <p:sp>
        <p:nvSpPr>
          <p:cNvPr id="12" name="Text 8"/>
          <p:cNvSpPr/>
          <p:nvPr/>
        </p:nvSpPr>
        <p:spPr>
          <a:xfrm>
            <a:off x="1234440" y="3172968"/>
            <a:ext cx="4572000" cy="457200"/>
          </a:xfrm>
          <a:prstGeom prst="rect">
            <a:avLst/>
          </a:prstGeom>
          <a:noFill/>
          <a:ln/>
        </p:spPr>
        <p:txBody>
          <a:bodyPr wrap="square" rtlCol="0" anchor="t"/>
          <a:lstStyle/>
          <a:p>
            <a:pPr marL="0" indent="0">
              <a:buNone/>
            </a:pPr>
            <a:r>
              <a:rPr lang="en-US" sz="1200" dirty="0">
                <a:solidFill>
                  <a:srgbClr val="5B6B63"/>
                </a:solidFill>
                <a:latin typeface="Calibri" pitchFamily="34" charset="0"/>
                <a:ea typeface="Calibri" pitchFamily="34" charset="-122"/>
                <a:cs typeface="Calibri" pitchFamily="34" charset="-120"/>
              </a:rPr>
              <a:t>Need dependable, compliant waste handling</a:t>
            </a:r>
            <a:endParaRPr lang="en-US" sz="1200" dirty="0"/>
          </a:p>
        </p:txBody>
      </p:sp>
      <p:sp>
        <p:nvSpPr>
          <p:cNvPr id="13" name="Shape 9"/>
          <p:cNvSpPr/>
          <p:nvPr/>
        </p:nvSpPr>
        <p:spPr>
          <a:xfrm>
            <a:off x="548640" y="3749040"/>
            <a:ext cx="502920" cy="502920"/>
          </a:xfrm>
          <a:prstGeom prst="ellipse">
            <a:avLst/>
          </a:prstGeom>
          <a:solidFill>
            <a:srgbClr val="E8F3EC"/>
          </a:solidFill>
          <a:ln/>
        </p:spPr>
      </p:sp>
      <p:pic>
        <p:nvPicPr>
          <p:cNvPr id="14" name="Image 2" descr="/home/claude/work/icons/store_1B4332.png"/>
          <p:cNvPicPr>
            <a:picLocks noChangeAspect="1"/>
          </p:cNvPicPr>
          <p:nvPr/>
        </p:nvPicPr>
        <p:blipFill>
          <a:blip r:embed="rId5"/>
          <a:stretch>
            <a:fillRect/>
          </a:stretch>
        </p:blipFill>
        <p:spPr>
          <a:xfrm>
            <a:off x="679399" y="3879799"/>
            <a:ext cx="241402" cy="241402"/>
          </a:xfrm>
          <a:prstGeom prst="rect">
            <a:avLst/>
          </a:prstGeom>
        </p:spPr>
      </p:pic>
      <p:sp>
        <p:nvSpPr>
          <p:cNvPr id="15" name="Text 10"/>
          <p:cNvSpPr/>
          <p:nvPr/>
        </p:nvSpPr>
        <p:spPr>
          <a:xfrm>
            <a:off x="1234440" y="3730752"/>
            <a:ext cx="2103120" cy="320040"/>
          </a:xfrm>
          <a:prstGeom prst="rect">
            <a:avLst/>
          </a:prstGeom>
          <a:noFill/>
          <a:ln/>
        </p:spPr>
        <p:txBody>
          <a:bodyPr wrap="square" rtlCol="0" anchor="ctr"/>
          <a:lstStyle/>
          <a:p>
            <a:pPr marL="0" indent="0">
              <a:buNone/>
            </a:pPr>
            <a:r>
              <a:rPr lang="en-US" sz="1400" b="1" dirty="0">
                <a:solidFill>
                  <a:srgbClr val="1A1A1A"/>
                </a:solidFill>
                <a:latin typeface="Calibri" pitchFamily="34" charset="0"/>
                <a:ea typeface="Calibri" pitchFamily="34" charset="-122"/>
                <a:cs typeface="Calibri" pitchFamily="34" charset="-120"/>
              </a:rPr>
              <a:t>Restaurants &amp; SMEs</a:t>
            </a:r>
            <a:endParaRPr lang="en-US" sz="1400" dirty="0"/>
          </a:p>
        </p:txBody>
      </p:sp>
      <p:sp>
        <p:nvSpPr>
          <p:cNvPr id="16" name="Text 11"/>
          <p:cNvSpPr/>
          <p:nvPr/>
        </p:nvSpPr>
        <p:spPr>
          <a:xfrm>
            <a:off x="1234440" y="4041648"/>
            <a:ext cx="4572000" cy="457200"/>
          </a:xfrm>
          <a:prstGeom prst="rect">
            <a:avLst/>
          </a:prstGeom>
          <a:noFill/>
          <a:ln/>
        </p:spPr>
        <p:txBody>
          <a:bodyPr wrap="square" rtlCol="0" anchor="t"/>
          <a:lstStyle/>
          <a:p>
            <a:pPr marL="0" indent="0">
              <a:buNone/>
            </a:pPr>
            <a:r>
              <a:rPr lang="en-US" sz="1200" dirty="0">
                <a:solidFill>
                  <a:srgbClr val="5B6B63"/>
                </a:solidFill>
                <a:latin typeface="Calibri" pitchFamily="34" charset="0"/>
                <a:ea typeface="Calibri" pitchFamily="34" charset="-122"/>
                <a:cs typeface="Calibri" pitchFamily="34" charset="-120"/>
              </a:rPr>
              <a:t>High daily waste volume, reputational stakes</a:t>
            </a:r>
            <a:endParaRPr lang="en-US" sz="1200" dirty="0"/>
          </a:p>
        </p:txBody>
      </p:sp>
      <p:sp>
        <p:nvSpPr>
          <p:cNvPr id="17" name="Shape 12"/>
          <p:cNvSpPr/>
          <p:nvPr/>
        </p:nvSpPr>
        <p:spPr>
          <a:xfrm>
            <a:off x="6537960" y="1508760"/>
            <a:ext cx="5074920" cy="4526280"/>
          </a:xfrm>
          <a:prstGeom prst="roundRect">
            <a:avLst>
              <a:gd name="adj" fmla="val 2020"/>
            </a:avLst>
          </a:prstGeom>
          <a:solidFill>
            <a:srgbClr val="E8F3EC"/>
          </a:solidFill>
          <a:ln/>
        </p:spPr>
      </p:sp>
      <p:sp>
        <p:nvSpPr>
          <p:cNvPr id="18" name="Text 13"/>
          <p:cNvSpPr/>
          <p:nvPr/>
        </p:nvSpPr>
        <p:spPr>
          <a:xfrm>
            <a:off x="6858000" y="1737360"/>
            <a:ext cx="4572000" cy="320040"/>
          </a:xfrm>
          <a:prstGeom prst="rect">
            <a:avLst/>
          </a:prstGeom>
          <a:noFill/>
          <a:ln/>
        </p:spPr>
        <p:txBody>
          <a:bodyPr wrap="square" rtlCol="0" anchor="ctr"/>
          <a:lstStyle/>
          <a:p>
            <a:pPr marL="0" indent="0">
              <a:buNone/>
            </a:pPr>
            <a:r>
              <a:rPr lang="en-US" sz="1200" b="1" kern="0" spc="200" dirty="0">
                <a:solidFill>
                  <a:srgbClr val="2D6A4F"/>
                </a:solidFill>
                <a:latin typeface="Calibri" pitchFamily="34" charset="0"/>
                <a:ea typeface="Calibri" pitchFamily="34" charset="-122"/>
                <a:cs typeface="Calibri" pitchFamily="34" charset="-120"/>
              </a:rPr>
              <a:t>SCALE &amp; JUSTIFICATION</a:t>
            </a:r>
            <a:endParaRPr lang="en-US" sz="1200" dirty="0"/>
          </a:p>
        </p:txBody>
      </p:sp>
      <p:sp>
        <p:nvSpPr>
          <p:cNvPr id="19" name="Text 14"/>
          <p:cNvSpPr/>
          <p:nvPr/>
        </p:nvSpPr>
        <p:spPr>
          <a:xfrm>
            <a:off x="6858000" y="2148840"/>
            <a:ext cx="4480560" cy="3657600"/>
          </a:xfrm>
          <a:prstGeom prst="rect">
            <a:avLst/>
          </a:prstGeom>
          <a:noFill/>
          <a:ln/>
        </p:spPr>
        <p:txBody>
          <a:bodyPr wrap="square" rtlCol="0" anchor="t"/>
          <a:lstStyle/>
          <a:p>
            <a:pPr marL="0" indent="0">
              <a:lnSpc>
                <a:spcPct val="115000"/>
              </a:lnSpc>
              <a:buNone/>
            </a:pPr>
            <a:r>
              <a:rPr lang="en-US" sz="1300" b="1" dirty="0">
                <a:solidFill>
                  <a:srgbClr val="1B4332"/>
                </a:solidFill>
                <a:latin typeface="Calibri" pitchFamily="34" charset="0"/>
                <a:ea typeface="Calibri" pitchFamily="34" charset="-122"/>
                <a:cs typeface="Calibri" pitchFamily="34" charset="-120"/>
              </a:rPr>
              <a:t>Scale: </a:t>
            </a:r>
            <a:r>
              <a:rPr lang="en-US" sz="1300" dirty="0">
                <a:solidFill>
                  <a:srgbClr val="1A1A1A"/>
                </a:solidFill>
                <a:latin typeface="Calibri" pitchFamily="34" charset="0"/>
                <a:ea typeface="Calibri" pitchFamily="34" charset="-122"/>
                <a:cs typeface="Calibri" pitchFamily="34" charset="-120"/>
              </a:rPr>
              <a:t>The problem is near-universal across urban and peri-urban Ghana, spanning every household type and business category that generates daily waste.
</a:t>
            </a:r>
            <a:r>
              <a:rPr lang="en-US" sz="1300" b="1" dirty="0">
                <a:solidFill>
                  <a:srgbClr val="1B4332"/>
                </a:solidFill>
                <a:latin typeface="Calibri" pitchFamily="34" charset="0"/>
                <a:ea typeface="Calibri" pitchFamily="34" charset="-122"/>
                <a:cs typeface="Calibri" pitchFamily="34" charset="-120"/>
              </a:rPr>
              <a:t>Worth pursuing? Yes — </a:t>
            </a:r>
            <a:r>
              <a:rPr lang="en-US" sz="1300" dirty="0">
                <a:solidFill>
                  <a:srgbClr val="1A1A1A"/>
                </a:solidFill>
                <a:latin typeface="Calibri" pitchFamily="34" charset="0"/>
                <a:ea typeface="Calibri" pitchFamily="34" charset="-122"/>
                <a:cs typeface="Calibri" pitchFamily="34" charset="-120"/>
              </a:rPr>
              <a:t>recent contract disruptions in national sanitation services have created visible, immediate service gaps in exactly the private estates, schools and businesses that large government contracts do not prioritize. That gap is where EcoBin Ghana enters — not by competing for municipal contracts, but by serving the segment currently falling through the cracks.</a:t>
            </a:r>
            <a:endParaRPr lang="en-US" sz="1300" dirty="0"/>
          </a:p>
        </p:txBody>
      </p:sp>
      <p:sp>
        <p:nvSpPr>
          <p:cNvPr id="20" name="Text 15"/>
          <p:cNvSpPr/>
          <p:nvPr/>
        </p:nvSpPr>
        <p:spPr>
          <a:xfrm>
            <a:off x="11430000" y="6446520"/>
            <a:ext cx="548640" cy="320040"/>
          </a:xfrm>
          <a:prstGeom prst="rect">
            <a:avLst/>
          </a:prstGeom>
          <a:noFill/>
          <a:ln/>
        </p:spPr>
        <p:txBody>
          <a:bodyPr wrap="square" rtlCol="0" anchor="ctr"/>
          <a:lstStyle/>
          <a:p>
            <a:pPr marL="0" indent="0" algn="r">
              <a:buNone/>
            </a:pPr>
            <a:r>
              <a:rPr lang="en-US" sz="1000" dirty="0">
                <a:solidFill>
                  <a:srgbClr val="5B6B63"/>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2D6A4F"/>
                </a:solidFill>
                <a:latin typeface="Calibri" pitchFamily="34" charset="0"/>
                <a:ea typeface="Calibri" pitchFamily="34" charset="-122"/>
                <a:cs typeface="Calibri" pitchFamily="34" charset="-120"/>
              </a:rPr>
              <a:t>DESCRIPTION OF THE PRODUCT / SERVICE</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What EcoBin Ghana actually delivers</a:t>
            </a:r>
            <a:endParaRPr lang="en-US" sz="3200" dirty="0"/>
          </a:p>
        </p:txBody>
      </p:sp>
      <p:sp>
        <p:nvSpPr>
          <p:cNvPr id="4" name="Shape 2"/>
          <p:cNvSpPr/>
          <p:nvPr/>
        </p:nvSpPr>
        <p:spPr>
          <a:xfrm>
            <a:off x="548640" y="1554480"/>
            <a:ext cx="5257800" cy="1783080"/>
          </a:xfrm>
          <a:prstGeom prst="roundRect">
            <a:avLst>
              <a:gd name="adj" fmla="val 4103"/>
            </a:avLst>
          </a:prstGeom>
          <a:solidFill>
            <a:srgbClr val="E8F3EC"/>
          </a:solidFill>
          <a:ln/>
        </p:spPr>
      </p:sp>
      <p:sp>
        <p:nvSpPr>
          <p:cNvPr id="5" name="Shape 3"/>
          <p:cNvSpPr/>
          <p:nvPr/>
        </p:nvSpPr>
        <p:spPr>
          <a:xfrm>
            <a:off x="804672" y="2011680"/>
            <a:ext cx="731520" cy="731520"/>
          </a:xfrm>
          <a:prstGeom prst="ellipse">
            <a:avLst/>
          </a:prstGeom>
          <a:solidFill>
            <a:srgbClr val="1B4332"/>
          </a:solidFill>
          <a:ln/>
        </p:spPr>
      </p:sp>
      <p:pic>
        <p:nvPicPr>
          <p:cNvPr id="6" name="Image 0" descr="/home/claude/work/icons/mobile_FFFFFF.png"/>
          <p:cNvPicPr>
            <a:picLocks noChangeAspect="1"/>
          </p:cNvPicPr>
          <p:nvPr/>
        </p:nvPicPr>
        <p:blipFill>
          <a:blip r:embed="rId3"/>
          <a:stretch>
            <a:fillRect/>
          </a:stretch>
        </p:blipFill>
        <p:spPr>
          <a:xfrm>
            <a:off x="994867" y="2201875"/>
            <a:ext cx="351130" cy="351130"/>
          </a:xfrm>
          <a:prstGeom prst="rect">
            <a:avLst/>
          </a:prstGeom>
        </p:spPr>
      </p:pic>
      <p:sp>
        <p:nvSpPr>
          <p:cNvPr id="7" name="Text 4"/>
          <p:cNvSpPr/>
          <p:nvPr/>
        </p:nvSpPr>
        <p:spPr>
          <a:xfrm>
            <a:off x="1737360" y="1737360"/>
            <a:ext cx="3840480" cy="36576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App-based booking</a:t>
            </a:r>
            <a:endParaRPr lang="en-US" sz="1600" dirty="0"/>
          </a:p>
        </p:txBody>
      </p:sp>
      <p:sp>
        <p:nvSpPr>
          <p:cNvPr id="8" name="Text 5"/>
          <p:cNvSpPr/>
          <p:nvPr/>
        </p:nvSpPr>
        <p:spPr>
          <a:xfrm>
            <a:off x="1737360" y="2148840"/>
            <a:ext cx="3840480" cy="1051560"/>
          </a:xfrm>
          <a:prstGeom prst="rect">
            <a:avLst/>
          </a:prstGeom>
          <a:noFill/>
          <a:ln/>
        </p:spPr>
        <p:txBody>
          <a:bodyPr wrap="square" rtlCol="0" anchor="t"/>
          <a:lstStyle/>
          <a:p>
            <a:pPr marL="0" indent="0">
              <a:buNone/>
            </a:pPr>
            <a:r>
              <a:rPr lang="en-US" sz="1250" dirty="0">
                <a:solidFill>
                  <a:srgbClr val="1A1A1A"/>
                </a:solidFill>
                <a:latin typeface="Calibri" pitchFamily="34" charset="0"/>
                <a:ea typeface="Calibri" pitchFamily="34" charset="-122"/>
                <a:cs typeface="Calibri" pitchFamily="34" charset="-120"/>
              </a:rPr>
              <a:t>Schedule recurring or one-off pickups in a few taps; track collector arrival in real time.</a:t>
            </a:r>
            <a:endParaRPr lang="en-US" sz="1250" dirty="0"/>
          </a:p>
        </p:txBody>
      </p:sp>
      <p:sp>
        <p:nvSpPr>
          <p:cNvPr id="9" name="Shape 6"/>
          <p:cNvSpPr/>
          <p:nvPr/>
        </p:nvSpPr>
        <p:spPr>
          <a:xfrm>
            <a:off x="6172200" y="1554480"/>
            <a:ext cx="5257800" cy="1783080"/>
          </a:xfrm>
          <a:prstGeom prst="roundRect">
            <a:avLst>
              <a:gd name="adj" fmla="val 4103"/>
            </a:avLst>
          </a:prstGeom>
          <a:solidFill>
            <a:srgbClr val="E8F3EC"/>
          </a:solidFill>
          <a:ln/>
        </p:spPr>
      </p:sp>
      <p:sp>
        <p:nvSpPr>
          <p:cNvPr id="10" name="Shape 7"/>
          <p:cNvSpPr/>
          <p:nvPr/>
        </p:nvSpPr>
        <p:spPr>
          <a:xfrm>
            <a:off x="6428232" y="2011680"/>
            <a:ext cx="731520" cy="731520"/>
          </a:xfrm>
          <a:prstGeom prst="ellipse">
            <a:avLst/>
          </a:prstGeom>
          <a:solidFill>
            <a:srgbClr val="1B4332"/>
          </a:solidFill>
          <a:ln/>
        </p:spPr>
      </p:sp>
      <p:pic>
        <p:nvPicPr>
          <p:cNvPr id="11" name="Image 1" descr="/home/claude/work/icons/box_FFFFFF.png"/>
          <p:cNvPicPr>
            <a:picLocks noChangeAspect="1"/>
          </p:cNvPicPr>
          <p:nvPr/>
        </p:nvPicPr>
        <p:blipFill>
          <a:blip r:embed="rId4"/>
          <a:stretch>
            <a:fillRect/>
          </a:stretch>
        </p:blipFill>
        <p:spPr>
          <a:xfrm>
            <a:off x="6618427" y="2201875"/>
            <a:ext cx="351130" cy="351130"/>
          </a:xfrm>
          <a:prstGeom prst="rect">
            <a:avLst/>
          </a:prstGeom>
        </p:spPr>
      </p:pic>
      <p:sp>
        <p:nvSpPr>
          <p:cNvPr id="12" name="Text 8"/>
          <p:cNvSpPr/>
          <p:nvPr/>
        </p:nvSpPr>
        <p:spPr>
          <a:xfrm>
            <a:off x="7360920" y="1737360"/>
            <a:ext cx="3840480" cy="36576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Source separation kits</a:t>
            </a:r>
            <a:endParaRPr lang="en-US" sz="1600" dirty="0"/>
          </a:p>
        </p:txBody>
      </p:sp>
      <p:sp>
        <p:nvSpPr>
          <p:cNvPr id="13" name="Text 9"/>
          <p:cNvSpPr/>
          <p:nvPr/>
        </p:nvSpPr>
        <p:spPr>
          <a:xfrm>
            <a:off x="7360920" y="2148840"/>
            <a:ext cx="3840480" cy="1051560"/>
          </a:xfrm>
          <a:prstGeom prst="rect">
            <a:avLst/>
          </a:prstGeom>
          <a:noFill/>
          <a:ln/>
        </p:spPr>
        <p:txBody>
          <a:bodyPr wrap="square" rtlCol="0" anchor="t"/>
          <a:lstStyle/>
          <a:p>
            <a:pPr marL="0" indent="0">
              <a:buNone/>
            </a:pPr>
            <a:r>
              <a:rPr lang="en-US" sz="1250" dirty="0">
                <a:solidFill>
                  <a:srgbClr val="1A1A1A"/>
                </a:solidFill>
                <a:latin typeface="Calibri" pitchFamily="34" charset="0"/>
                <a:ea typeface="Calibri" pitchFamily="34" charset="-122"/>
                <a:cs typeface="Calibri" pitchFamily="34" charset="-120"/>
              </a:rPr>
              <a:t>Color-coded bins/bags to separate organic, plastic and general waste at the point of collection.</a:t>
            </a:r>
            <a:endParaRPr lang="en-US" sz="1250" dirty="0"/>
          </a:p>
        </p:txBody>
      </p:sp>
      <p:sp>
        <p:nvSpPr>
          <p:cNvPr id="14" name="Shape 10"/>
          <p:cNvSpPr/>
          <p:nvPr/>
        </p:nvSpPr>
        <p:spPr>
          <a:xfrm>
            <a:off x="548640" y="3657600"/>
            <a:ext cx="5257800" cy="1783080"/>
          </a:xfrm>
          <a:prstGeom prst="roundRect">
            <a:avLst>
              <a:gd name="adj" fmla="val 4103"/>
            </a:avLst>
          </a:prstGeom>
          <a:solidFill>
            <a:srgbClr val="E8F3EC"/>
          </a:solidFill>
          <a:ln/>
        </p:spPr>
      </p:sp>
      <p:sp>
        <p:nvSpPr>
          <p:cNvPr id="15" name="Shape 11"/>
          <p:cNvSpPr/>
          <p:nvPr/>
        </p:nvSpPr>
        <p:spPr>
          <a:xfrm>
            <a:off x="804672" y="4114800"/>
            <a:ext cx="731520" cy="731520"/>
          </a:xfrm>
          <a:prstGeom prst="ellipse">
            <a:avLst/>
          </a:prstGeom>
          <a:solidFill>
            <a:srgbClr val="1B4332"/>
          </a:solidFill>
          <a:ln/>
        </p:spPr>
      </p:sp>
      <p:pic>
        <p:nvPicPr>
          <p:cNvPr id="16" name="Image 2" descr="/home/claude/work/icons/star_FFFFFF.png"/>
          <p:cNvPicPr>
            <a:picLocks noChangeAspect="1"/>
          </p:cNvPicPr>
          <p:nvPr/>
        </p:nvPicPr>
        <p:blipFill>
          <a:blip r:embed="rId5"/>
          <a:stretch>
            <a:fillRect/>
          </a:stretch>
        </p:blipFill>
        <p:spPr>
          <a:xfrm>
            <a:off x="994867" y="4304995"/>
            <a:ext cx="351130" cy="351130"/>
          </a:xfrm>
          <a:prstGeom prst="rect">
            <a:avLst/>
          </a:prstGeom>
        </p:spPr>
      </p:pic>
      <p:sp>
        <p:nvSpPr>
          <p:cNvPr id="17" name="Text 12"/>
          <p:cNvSpPr/>
          <p:nvPr/>
        </p:nvSpPr>
        <p:spPr>
          <a:xfrm>
            <a:off x="1737360" y="3840480"/>
            <a:ext cx="3840480" cy="36576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Recycling rewards</a:t>
            </a:r>
            <a:endParaRPr lang="en-US" sz="1600" dirty="0"/>
          </a:p>
        </p:txBody>
      </p:sp>
      <p:sp>
        <p:nvSpPr>
          <p:cNvPr id="18" name="Text 13"/>
          <p:cNvSpPr/>
          <p:nvPr/>
        </p:nvSpPr>
        <p:spPr>
          <a:xfrm>
            <a:off x="1737360" y="4251960"/>
            <a:ext cx="3840480" cy="1051560"/>
          </a:xfrm>
          <a:prstGeom prst="rect">
            <a:avLst/>
          </a:prstGeom>
          <a:noFill/>
          <a:ln/>
        </p:spPr>
        <p:txBody>
          <a:bodyPr wrap="square" rtlCol="0" anchor="t"/>
          <a:lstStyle/>
          <a:p>
            <a:pPr marL="0" indent="0">
              <a:buNone/>
            </a:pPr>
            <a:r>
              <a:rPr lang="en-US" sz="1250" dirty="0">
                <a:solidFill>
                  <a:srgbClr val="1A1A1A"/>
                </a:solidFill>
                <a:latin typeface="Calibri" pitchFamily="34" charset="0"/>
                <a:ea typeface="Calibri" pitchFamily="34" charset="-122"/>
                <a:cs typeface="Calibri" pitchFamily="34" charset="-120"/>
              </a:rPr>
              <a:t>Points for every kilogram of recyclables collected, redeemable for airtime, vouchers and bill discounts.</a:t>
            </a:r>
            <a:endParaRPr lang="en-US" sz="1250" dirty="0"/>
          </a:p>
        </p:txBody>
      </p:sp>
      <p:sp>
        <p:nvSpPr>
          <p:cNvPr id="19" name="Shape 14"/>
          <p:cNvSpPr/>
          <p:nvPr/>
        </p:nvSpPr>
        <p:spPr>
          <a:xfrm>
            <a:off x="6172200" y="3657600"/>
            <a:ext cx="5257800" cy="1783080"/>
          </a:xfrm>
          <a:prstGeom prst="roundRect">
            <a:avLst>
              <a:gd name="adj" fmla="val 4103"/>
            </a:avLst>
          </a:prstGeom>
          <a:solidFill>
            <a:srgbClr val="E8F3EC"/>
          </a:solidFill>
          <a:ln/>
        </p:spPr>
      </p:sp>
      <p:sp>
        <p:nvSpPr>
          <p:cNvPr id="20" name="Shape 15"/>
          <p:cNvSpPr/>
          <p:nvPr/>
        </p:nvSpPr>
        <p:spPr>
          <a:xfrm>
            <a:off x="6428232" y="4114800"/>
            <a:ext cx="731520" cy="731520"/>
          </a:xfrm>
          <a:prstGeom prst="ellipse">
            <a:avLst/>
          </a:prstGeom>
          <a:solidFill>
            <a:srgbClr val="1B4332"/>
          </a:solidFill>
          <a:ln/>
        </p:spPr>
      </p:sp>
      <p:pic>
        <p:nvPicPr>
          <p:cNvPr id="21" name="Image 3" descr="/home/claude/work/icons/shield_FFFFFF.png"/>
          <p:cNvPicPr>
            <a:picLocks noChangeAspect="1"/>
          </p:cNvPicPr>
          <p:nvPr/>
        </p:nvPicPr>
        <p:blipFill>
          <a:blip r:embed="rId6"/>
          <a:stretch>
            <a:fillRect/>
          </a:stretch>
        </p:blipFill>
        <p:spPr>
          <a:xfrm>
            <a:off x="6618427" y="4304995"/>
            <a:ext cx="351130" cy="351130"/>
          </a:xfrm>
          <a:prstGeom prst="rect">
            <a:avLst/>
          </a:prstGeom>
        </p:spPr>
      </p:pic>
      <p:sp>
        <p:nvSpPr>
          <p:cNvPr id="22" name="Text 16"/>
          <p:cNvSpPr/>
          <p:nvPr/>
        </p:nvSpPr>
        <p:spPr>
          <a:xfrm>
            <a:off x="7360920" y="3840480"/>
            <a:ext cx="3840480" cy="36576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Verified, trained collectors</a:t>
            </a:r>
            <a:endParaRPr lang="en-US" sz="1600" dirty="0"/>
          </a:p>
        </p:txBody>
      </p:sp>
      <p:sp>
        <p:nvSpPr>
          <p:cNvPr id="23" name="Text 17"/>
          <p:cNvSpPr/>
          <p:nvPr/>
        </p:nvSpPr>
        <p:spPr>
          <a:xfrm>
            <a:off x="7360920" y="4251960"/>
            <a:ext cx="3840480" cy="1051560"/>
          </a:xfrm>
          <a:prstGeom prst="rect">
            <a:avLst/>
          </a:prstGeom>
          <a:noFill/>
          <a:ln/>
        </p:spPr>
        <p:txBody>
          <a:bodyPr wrap="square" rtlCol="0" anchor="t"/>
          <a:lstStyle/>
          <a:p>
            <a:pPr marL="0" indent="0">
              <a:buNone/>
            </a:pPr>
            <a:r>
              <a:rPr lang="en-US" sz="1250" dirty="0">
                <a:solidFill>
                  <a:srgbClr val="1A1A1A"/>
                </a:solidFill>
                <a:latin typeface="Calibri" pitchFamily="34" charset="0"/>
                <a:ea typeface="Calibri" pitchFamily="34" charset="-122"/>
                <a:cs typeface="Calibri" pitchFamily="34" charset="-120"/>
              </a:rPr>
              <a:t>Partnered pickup agents vetted and trained on safe handling and customer service.</a:t>
            </a:r>
            <a:endParaRPr lang="en-US" sz="1250" dirty="0"/>
          </a:p>
        </p:txBody>
      </p:sp>
      <p:sp>
        <p:nvSpPr>
          <p:cNvPr id="24" name="Text 18"/>
          <p:cNvSpPr/>
          <p:nvPr/>
        </p:nvSpPr>
        <p:spPr>
          <a:xfrm>
            <a:off x="11430000" y="6446520"/>
            <a:ext cx="548640" cy="320040"/>
          </a:xfrm>
          <a:prstGeom prst="rect">
            <a:avLst/>
          </a:prstGeom>
          <a:noFill/>
          <a:ln/>
        </p:spPr>
        <p:txBody>
          <a:bodyPr wrap="square" rtlCol="0" anchor="ctr"/>
          <a:lstStyle/>
          <a:p>
            <a:pPr marL="0" indent="0" algn="r">
              <a:buNone/>
            </a:pPr>
            <a:r>
              <a:rPr lang="en-US" sz="1000" dirty="0">
                <a:solidFill>
                  <a:srgbClr val="5B6B63"/>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2D6A4F"/>
                </a:solidFill>
                <a:latin typeface="Calibri" pitchFamily="34" charset="0"/>
                <a:ea typeface="Calibri" pitchFamily="34" charset="-122"/>
                <a:cs typeface="Calibri" pitchFamily="34" charset="-120"/>
              </a:rPr>
              <a:t>DESCRIPTION OF THE PRODUCT / SERVICE</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Price–quality tiers</a:t>
            </a:r>
            <a:endParaRPr lang="en-US" sz="3200" dirty="0"/>
          </a:p>
        </p:txBody>
      </p:sp>
      <p:sp>
        <p:nvSpPr>
          <p:cNvPr id="4" name="Text 2"/>
          <p:cNvSpPr/>
          <p:nvPr/>
        </p:nvSpPr>
        <p:spPr>
          <a:xfrm>
            <a:off x="548640" y="1325880"/>
            <a:ext cx="10789920" cy="457200"/>
          </a:xfrm>
          <a:prstGeom prst="rect">
            <a:avLst/>
          </a:prstGeom>
          <a:noFill/>
          <a:ln/>
        </p:spPr>
        <p:txBody>
          <a:bodyPr wrap="square" rtlCol="0" anchor="ctr"/>
          <a:lstStyle/>
          <a:p>
            <a:pPr marL="0" indent="0">
              <a:buNone/>
            </a:pPr>
            <a:r>
              <a:rPr lang="en-US" sz="1350" dirty="0">
                <a:solidFill>
                  <a:srgbClr val="5B6B63"/>
                </a:solidFill>
                <a:latin typeface="Calibri" pitchFamily="34" charset="0"/>
                <a:ea typeface="Calibri" pitchFamily="34" charset="-122"/>
                <a:cs typeface="Calibri" pitchFamily="34" charset="-120"/>
              </a:rPr>
              <a:t>Subscription tiers let customers trade off pickup frequency and reward value against price — addressing the core price-quality question directly.</a:t>
            </a:r>
            <a:endParaRPr lang="en-US" sz="1350" dirty="0"/>
          </a:p>
        </p:txBody>
      </p:sp>
      <p:sp>
        <p:nvSpPr>
          <p:cNvPr id="5" name="Shape 3"/>
          <p:cNvSpPr/>
          <p:nvPr/>
        </p:nvSpPr>
        <p:spPr>
          <a:xfrm>
            <a:off x="548640" y="2011680"/>
            <a:ext cx="3520440" cy="4114800"/>
          </a:xfrm>
          <a:prstGeom prst="roundRect">
            <a:avLst>
              <a:gd name="adj" fmla="val 2078"/>
            </a:avLst>
          </a:prstGeom>
          <a:solidFill>
            <a:srgbClr val="2D6A4F"/>
          </a:solidFill>
          <a:ln/>
        </p:spPr>
      </p:sp>
      <p:sp>
        <p:nvSpPr>
          <p:cNvPr id="6" name="Text 4"/>
          <p:cNvSpPr/>
          <p:nvPr/>
        </p:nvSpPr>
        <p:spPr>
          <a:xfrm>
            <a:off x="822960" y="2286000"/>
            <a:ext cx="2971800" cy="4572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Basic</a:t>
            </a:r>
            <a:endParaRPr lang="en-US" sz="2200" dirty="0"/>
          </a:p>
        </p:txBody>
      </p:sp>
      <p:sp>
        <p:nvSpPr>
          <p:cNvPr id="7" name="Text 5"/>
          <p:cNvSpPr/>
          <p:nvPr/>
        </p:nvSpPr>
        <p:spPr>
          <a:xfrm>
            <a:off x="822960" y="2743200"/>
            <a:ext cx="2971800" cy="411480"/>
          </a:xfrm>
          <a:prstGeom prst="rect">
            <a:avLst/>
          </a:prstGeom>
          <a:noFill/>
          <a:ln/>
        </p:spPr>
        <p:txBody>
          <a:bodyPr wrap="square" rtlCol="0" anchor="ctr"/>
          <a:lstStyle/>
          <a:p>
            <a:pPr marL="0" indent="0">
              <a:buNone/>
            </a:pPr>
            <a:r>
              <a:rPr lang="en-US" sz="1800" b="1" dirty="0">
                <a:solidFill>
                  <a:srgbClr val="F59E0B"/>
                </a:solidFill>
                <a:latin typeface="Calibri" pitchFamily="34" charset="0"/>
                <a:ea typeface="Calibri" pitchFamily="34" charset="-122"/>
                <a:cs typeface="Calibri" pitchFamily="34" charset="-120"/>
              </a:rPr>
              <a:t>GHS 40/mo</a:t>
            </a:r>
            <a:endParaRPr lang="en-US" sz="1800" dirty="0"/>
          </a:p>
        </p:txBody>
      </p:sp>
      <p:sp>
        <p:nvSpPr>
          <p:cNvPr id="8" name="Text 6"/>
          <p:cNvSpPr/>
          <p:nvPr/>
        </p:nvSpPr>
        <p:spPr>
          <a:xfrm>
            <a:off x="822960" y="3337560"/>
            <a:ext cx="2971800" cy="502920"/>
          </a:xfrm>
          <a:prstGeom prst="rect">
            <a:avLst/>
          </a:prstGeom>
          <a:noFill/>
          <a:ln/>
        </p:spPr>
        <p:txBody>
          <a:bodyPr wrap="square" rtlCol="0" anchor="t"/>
          <a:lstStyle/>
          <a:p>
            <a:pPr marL="0" indent="0">
              <a:buNone/>
            </a:pPr>
            <a:r>
              <a:rPr lang="en-US" sz="1200" dirty="0">
                <a:solidFill>
                  <a:srgbClr val="E8F3EC"/>
                </a:solidFill>
                <a:latin typeface="Calibri" pitchFamily="34" charset="0"/>
                <a:ea typeface="Calibri" pitchFamily="34" charset="-122"/>
                <a:cs typeface="Calibri" pitchFamily="34" charset="-120"/>
              </a:rPr>
              <a:t>•  Shared-route pickup, twice weekly</a:t>
            </a:r>
            <a:endParaRPr lang="en-US" sz="1200" dirty="0"/>
          </a:p>
        </p:txBody>
      </p:sp>
      <p:sp>
        <p:nvSpPr>
          <p:cNvPr id="9" name="Text 7"/>
          <p:cNvSpPr/>
          <p:nvPr/>
        </p:nvSpPr>
        <p:spPr>
          <a:xfrm>
            <a:off x="822960" y="3904488"/>
            <a:ext cx="2971800" cy="502920"/>
          </a:xfrm>
          <a:prstGeom prst="rect">
            <a:avLst/>
          </a:prstGeom>
          <a:noFill/>
          <a:ln/>
        </p:spPr>
        <p:txBody>
          <a:bodyPr wrap="square" rtlCol="0" anchor="t"/>
          <a:lstStyle/>
          <a:p>
            <a:pPr marL="0" indent="0">
              <a:buNone/>
            </a:pPr>
            <a:r>
              <a:rPr lang="en-US" sz="1200" dirty="0">
                <a:solidFill>
                  <a:srgbClr val="E8F3EC"/>
                </a:solidFill>
                <a:latin typeface="Calibri" pitchFamily="34" charset="0"/>
                <a:ea typeface="Calibri" pitchFamily="34" charset="-122"/>
                <a:cs typeface="Calibri" pitchFamily="34" charset="-120"/>
              </a:rPr>
              <a:t>•  Standard separation bags</a:t>
            </a:r>
            <a:endParaRPr lang="en-US" sz="1200" dirty="0"/>
          </a:p>
        </p:txBody>
      </p:sp>
      <p:sp>
        <p:nvSpPr>
          <p:cNvPr id="10" name="Text 8"/>
          <p:cNvSpPr/>
          <p:nvPr/>
        </p:nvSpPr>
        <p:spPr>
          <a:xfrm>
            <a:off x="822960" y="4471416"/>
            <a:ext cx="2971800" cy="502920"/>
          </a:xfrm>
          <a:prstGeom prst="rect">
            <a:avLst/>
          </a:prstGeom>
          <a:noFill/>
          <a:ln/>
        </p:spPr>
        <p:txBody>
          <a:bodyPr wrap="square" rtlCol="0" anchor="t"/>
          <a:lstStyle/>
          <a:p>
            <a:pPr marL="0" indent="0">
              <a:buNone/>
            </a:pPr>
            <a:r>
              <a:rPr lang="en-US" sz="1200" dirty="0">
                <a:solidFill>
                  <a:srgbClr val="E8F3EC"/>
                </a:solidFill>
                <a:latin typeface="Calibri" pitchFamily="34" charset="0"/>
                <a:ea typeface="Calibri" pitchFamily="34" charset="-122"/>
                <a:cs typeface="Calibri" pitchFamily="34" charset="-120"/>
              </a:rPr>
              <a:t>•  Base reward rate</a:t>
            </a:r>
            <a:endParaRPr lang="en-US" sz="1200" dirty="0"/>
          </a:p>
        </p:txBody>
      </p:sp>
      <p:sp>
        <p:nvSpPr>
          <p:cNvPr id="11" name="Shape 9"/>
          <p:cNvSpPr/>
          <p:nvPr/>
        </p:nvSpPr>
        <p:spPr>
          <a:xfrm>
            <a:off x="4343400" y="1874520"/>
            <a:ext cx="3520440" cy="4251960"/>
          </a:xfrm>
          <a:prstGeom prst="roundRect">
            <a:avLst>
              <a:gd name="adj" fmla="val 2078"/>
            </a:avLst>
          </a:prstGeom>
          <a:solidFill>
            <a:srgbClr val="1B4332"/>
          </a:solidFill>
          <a:ln/>
          <a:effectLst>
            <a:outerShdw blurRad="127000" dist="50800" dir="5400000" algn="bl" rotWithShape="0">
              <a:srgbClr val="000000">
                <a:alpha val="25000"/>
              </a:srgbClr>
            </a:outerShdw>
          </a:effectLst>
        </p:spPr>
      </p:sp>
      <p:sp>
        <p:nvSpPr>
          <p:cNvPr id="12" name="Text 10"/>
          <p:cNvSpPr/>
          <p:nvPr/>
        </p:nvSpPr>
        <p:spPr>
          <a:xfrm>
            <a:off x="4343400" y="2039112"/>
            <a:ext cx="3520440" cy="274320"/>
          </a:xfrm>
          <a:prstGeom prst="rect">
            <a:avLst/>
          </a:prstGeom>
          <a:noFill/>
          <a:ln/>
        </p:spPr>
        <p:txBody>
          <a:bodyPr wrap="square" rtlCol="0" anchor="ctr"/>
          <a:lstStyle/>
          <a:p>
            <a:pPr marL="0" indent="0" algn="ctr">
              <a:buNone/>
            </a:pPr>
            <a:r>
              <a:rPr lang="en-US" sz="1000" b="1" kern="0" spc="150" dirty="0">
                <a:solidFill>
                  <a:srgbClr val="F59E0B"/>
                </a:solidFill>
                <a:latin typeface="Calibri" pitchFamily="34" charset="0"/>
                <a:ea typeface="Calibri" pitchFamily="34" charset="-122"/>
                <a:cs typeface="Calibri" pitchFamily="34" charset="-120"/>
              </a:rPr>
              <a:t>MOST POPULAR</a:t>
            </a:r>
            <a:endParaRPr lang="en-US" sz="1000" dirty="0"/>
          </a:p>
        </p:txBody>
      </p:sp>
      <p:sp>
        <p:nvSpPr>
          <p:cNvPr id="13" name="Text 11"/>
          <p:cNvSpPr/>
          <p:nvPr/>
        </p:nvSpPr>
        <p:spPr>
          <a:xfrm>
            <a:off x="4617720" y="2331720"/>
            <a:ext cx="2971800" cy="4572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Standard</a:t>
            </a:r>
            <a:endParaRPr lang="en-US" sz="2200" dirty="0"/>
          </a:p>
        </p:txBody>
      </p:sp>
      <p:sp>
        <p:nvSpPr>
          <p:cNvPr id="14" name="Text 12"/>
          <p:cNvSpPr/>
          <p:nvPr/>
        </p:nvSpPr>
        <p:spPr>
          <a:xfrm>
            <a:off x="4617720" y="2788920"/>
            <a:ext cx="2971800" cy="411480"/>
          </a:xfrm>
          <a:prstGeom prst="rect">
            <a:avLst/>
          </a:prstGeom>
          <a:noFill/>
          <a:ln/>
        </p:spPr>
        <p:txBody>
          <a:bodyPr wrap="square" rtlCol="0" anchor="ctr"/>
          <a:lstStyle/>
          <a:p>
            <a:pPr marL="0" indent="0">
              <a:buNone/>
            </a:pPr>
            <a:r>
              <a:rPr lang="en-US" sz="1800" b="1" dirty="0">
                <a:solidFill>
                  <a:srgbClr val="F59E0B"/>
                </a:solidFill>
                <a:latin typeface="Calibri" pitchFamily="34" charset="0"/>
                <a:ea typeface="Calibri" pitchFamily="34" charset="-122"/>
                <a:cs typeface="Calibri" pitchFamily="34" charset="-120"/>
              </a:rPr>
              <a:t>GHS 75/mo</a:t>
            </a:r>
            <a:endParaRPr lang="en-US" sz="1800" dirty="0"/>
          </a:p>
        </p:txBody>
      </p:sp>
      <p:sp>
        <p:nvSpPr>
          <p:cNvPr id="15" name="Text 13"/>
          <p:cNvSpPr/>
          <p:nvPr/>
        </p:nvSpPr>
        <p:spPr>
          <a:xfrm>
            <a:off x="4617720" y="3383280"/>
            <a:ext cx="2971800" cy="502920"/>
          </a:xfrm>
          <a:prstGeom prst="rect">
            <a:avLst/>
          </a:prstGeom>
          <a:noFill/>
          <a:ln/>
        </p:spPr>
        <p:txBody>
          <a:bodyPr wrap="square" rtlCol="0" anchor="t"/>
          <a:lstStyle/>
          <a:p>
            <a:pPr marL="0" indent="0">
              <a:buNone/>
            </a:pPr>
            <a:r>
              <a:rPr lang="en-US" sz="1200" dirty="0">
                <a:solidFill>
                  <a:srgbClr val="E8F3EC"/>
                </a:solidFill>
                <a:latin typeface="Calibri" pitchFamily="34" charset="0"/>
                <a:ea typeface="Calibri" pitchFamily="34" charset="-122"/>
                <a:cs typeface="Calibri" pitchFamily="34" charset="-120"/>
              </a:rPr>
              <a:t>•  Dedicated pickup window</a:t>
            </a:r>
            <a:endParaRPr lang="en-US" sz="1200" dirty="0"/>
          </a:p>
        </p:txBody>
      </p:sp>
      <p:sp>
        <p:nvSpPr>
          <p:cNvPr id="16" name="Text 14"/>
          <p:cNvSpPr/>
          <p:nvPr/>
        </p:nvSpPr>
        <p:spPr>
          <a:xfrm>
            <a:off x="4617720" y="3950208"/>
            <a:ext cx="2971800" cy="502920"/>
          </a:xfrm>
          <a:prstGeom prst="rect">
            <a:avLst/>
          </a:prstGeom>
          <a:noFill/>
          <a:ln/>
        </p:spPr>
        <p:txBody>
          <a:bodyPr wrap="square" rtlCol="0" anchor="t"/>
          <a:lstStyle/>
          <a:p>
            <a:pPr marL="0" indent="0">
              <a:buNone/>
            </a:pPr>
            <a:r>
              <a:rPr lang="en-US" sz="1200" dirty="0">
                <a:solidFill>
                  <a:srgbClr val="E8F3EC"/>
                </a:solidFill>
                <a:latin typeface="Calibri" pitchFamily="34" charset="0"/>
                <a:ea typeface="Calibri" pitchFamily="34" charset="-122"/>
                <a:cs typeface="Calibri" pitchFamily="34" charset="-120"/>
              </a:rPr>
              <a:t>•  Free starter bin set</a:t>
            </a:r>
            <a:endParaRPr lang="en-US" sz="1200" dirty="0"/>
          </a:p>
        </p:txBody>
      </p:sp>
      <p:sp>
        <p:nvSpPr>
          <p:cNvPr id="17" name="Text 15"/>
          <p:cNvSpPr/>
          <p:nvPr/>
        </p:nvSpPr>
        <p:spPr>
          <a:xfrm>
            <a:off x="4617720" y="4517136"/>
            <a:ext cx="2971800" cy="502920"/>
          </a:xfrm>
          <a:prstGeom prst="rect">
            <a:avLst/>
          </a:prstGeom>
          <a:noFill/>
          <a:ln/>
        </p:spPr>
        <p:txBody>
          <a:bodyPr wrap="square" rtlCol="0" anchor="t"/>
          <a:lstStyle/>
          <a:p>
            <a:pPr marL="0" indent="0">
              <a:buNone/>
            </a:pPr>
            <a:r>
              <a:rPr lang="en-US" sz="1200" dirty="0">
                <a:solidFill>
                  <a:srgbClr val="E8F3EC"/>
                </a:solidFill>
                <a:latin typeface="Calibri" pitchFamily="34" charset="0"/>
                <a:ea typeface="Calibri" pitchFamily="34" charset="-122"/>
                <a:cs typeface="Calibri" pitchFamily="34" charset="-120"/>
              </a:rPr>
              <a:t>•  1.5x reward rate</a:t>
            </a:r>
            <a:endParaRPr lang="en-US" sz="1200" dirty="0"/>
          </a:p>
        </p:txBody>
      </p:sp>
      <p:sp>
        <p:nvSpPr>
          <p:cNvPr id="18" name="Shape 16"/>
          <p:cNvSpPr/>
          <p:nvPr/>
        </p:nvSpPr>
        <p:spPr>
          <a:xfrm>
            <a:off x="8138160" y="2011680"/>
            <a:ext cx="3520440" cy="4114800"/>
          </a:xfrm>
          <a:prstGeom prst="roundRect">
            <a:avLst>
              <a:gd name="adj" fmla="val 2078"/>
            </a:avLst>
          </a:prstGeom>
          <a:solidFill>
            <a:srgbClr val="0F2A1E"/>
          </a:solidFill>
          <a:ln/>
        </p:spPr>
      </p:sp>
      <p:sp>
        <p:nvSpPr>
          <p:cNvPr id="19" name="Text 17"/>
          <p:cNvSpPr/>
          <p:nvPr/>
        </p:nvSpPr>
        <p:spPr>
          <a:xfrm>
            <a:off x="8412480" y="2286000"/>
            <a:ext cx="2971800" cy="457200"/>
          </a:xfrm>
          <a:prstGeom prst="rect">
            <a:avLst/>
          </a:prstGeom>
          <a:noFill/>
          <a:ln/>
        </p:spPr>
        <p:txBody>
          <a:bodyPr wrap="square"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Business</a:t>
            </a:r>
            <a:endParaRPr lang="en-US" sz="2200" dirty="0"/>
          </a:p>
        </p:txBody>
      </p:sp>
      <p:sp>
        <p:nvSpPr>
          <p:cNvPr id="20" name="Text 18"/>
          <p:cNvSpPr/>
          <p:nvPr/>
        </p:nvSpPr>
        <p:spPr>
          <a:xfrm>
            <a:off x="8412480" y="2743200"/>
            <a:ext cx="2971800" cy="411480"/>
          </a:xfrm>
          <a:prstGeom prst="rect">
            <a:avLst/>
          </a:prstGeom>
          <a:noFill/>
          <a:ln/>
        </p:spPr>
        <p:txBody>
          <a:bodyPr wrap="square" rtlCol="0" anchor="ctr"/>
          <a:lstStyle/>
          <a:p>
            <a:pPr marL="0" indent="0">
              <a:buNone/>
            </a:pPr>
            <a:r>
              <a:rPr lang="en-US" sz="1800" b="1" dirty="0">
                <a:solidFill>
                  <a:srgbClr val="F59E0B"/>
                </a:solidFill>
                <a:latin typeface="Calibri" pitchFamily="34" charset="0"/>
                <a:ea typeface="Calibri" pitchFamily="34" charset="-122"/>
                <a:cs typeface="Calibri" pitchFamily="34" charset="-120"/>
              </a:rPr>
              <a:t>Custom</a:t>
            </a:r>
            <a:endParaRPr lang="en-US" sz="1800" dirty="0"/>
          </a:p>
        </p:txBody>
      </p:sp>
      <p:sp>
        <p:nvSpPr>
          <p:cNvPr id="21" name="Text 19"/>
          <p:cNvSpPr/>
          <p:nvPr/>
        </p:nvSpPr>
        <p:spPr>
          <a:xfrm>
            <a:off x="8412480" y="3337560"/>
            <a:ext cx="2971800" cy="502920"/>
          </a:xfrm>
          <a:prstGeom prst="rect">
            <a:avLst/>
          </a:prstGeom>
          <a:noFill/>
          <a:ln/>
        </p:spPr>
        <p:txBody>
          <a:bodyPr wrap="square" rtlCol="0" anchor="t"/>
          <a:lstStyle/>
          <a:p>
            <a:pPr marL="0" indent="0">
              <a:buNone/>
            </a:pPr>
            <a:r>
              <a:rPr lang="en-US" sz="1200" dirty="0">
                <a:solidFill>
                  <a:srgbClr val="E8F3EC"/>
                </a:solidFill>
                <a:latin typeface="Calibri" pitchFamily="34" charset="0"/>
                <a:ea typeface="Calibri" pitchFamily="34" charset="-122"/>
                <a:cs typeface="Calibri" pitchFamily="34" charset="-120"/>
              </a:rPr>
              <a:t>•  Daily pickup for restaurants/schools</a:t>
            </a:r>
            <a:endParaRPr lang="en-US" sz="1200" dirty="0"/>
          </a:p>
        </p:txBody>
      </p:sp>
      <p:sp>
        <p:nvSpPr>
          <p:cNvPr id="22" name="Text 20"/>
          <p:cNvSpPr/>
          <p:nvPr/>
        </p:nvSpPr>
        <p:spPr>
          <a:xfrm>
            <a:off x="8412480" y="3904488"/>
            <a:ext cx="2971800" cy="502920"/>
          </a:xfrm>
          <a:prstGeom prst="rect">
            <a:avLst/>
          </a:prstGeom>
          <a:noFill/>
          <a:ln/>
        </p:spPr>
        <p:txBody>
          <a:bodyPr wrap="square" rtlCol="0" anchor="t"/>
          <a:lstStyle/>
          <a:p>
            <a:pPr marL="0" indent="0">
              <a:buNone/>
            </a:pPr>
            <a:r>
              <a:rPr lang="en-US" sz="1200" dirty="0">
                <a:solidFill>
                  <a:srgbClr val="E8F3EC"/>
                </a:solidFill>
                <a:latin typeface="Calibri" pitchFamily="34" charset="0"/>
                <a:ea typeface="Calibri" pitchFamily="34" charset="-122"/>
                <a:cs typeface="Calibri" pitchFamily="34" charset="-120"/>
              </a:rPr>
              <a:t>•  Compliance reporting</a:t>
            </a:r>
            <a:endParaRPr lang="en-US" sz="1200" dirty="0"/>
          </a:p>
        </p:txBody>
      </p:sp>
      <p:sp>
        <p:nvSpPr>
          <p:cNvPr id="23" name="Text 21"/>
          <p:cNvSpPr/>
          <p:nvPr/>
        </p:nvSpPr>
        <p:spPr>
          <a:xfrm>
            <a:off x="8412480" y="4471416"/>
            <a:ext cx="2971800" cy="502920"/>
          </a:xfrm>
          <a:prstGeom prst="rect">
            <a:avLst/>
          </a:prstGeom>
          <a:noFill/>
          <a:ln/>
        </p:spPr>
        <p:txBody>
          <a:bodyPr wrap="square" rtlCol="0" anchor="t"/>
          <a:lstStyle/>
          <a:p>
            <a:pPr marL="0" indent="0">
              <a:buNone/>
            </a:pPr>
            <a:r>
              <a:rPr lang="en-US" sz="1200" dirty="0">
                <a:solidFill>
                  <a:srgbClr val="E8F3EC"/>
                </a:solidFill>
                <a:latin typeface="Calibri" pitchFamily="34" charset="0"/>
                <a:ea typeface="Calibri" pitchFamily="34" charset="-122"/>
                <a:cs typeface="Calibri" pitchFamily="34" charset="-120"/>
              </a:rPr>
              <a:t>•  Priority support + bulk rewards</a:t>
            </a:r>
            <a:endParaRPr lang="en-US" sz="1200" dirty="0"/>
          </a:p>
        </p:txBody>
      </p:sp>
      <p:sp>
        <p:nvSpPr>
          <p:cNvPr id="24" name="Text 22"/>
          <p:cNvSpPr/>
          <p:nvPr/>
        </p:nvSpPr>
        <p:spPr>
          <a:xfrm>
            <a:off x="11430000" y="6446520"/>
            <a:ext cx="548640" cy="320040"/>
          </a:xfrm>
          <a:prstGeom prst="rect">
            <a:avLst/>
          </a:prstGeom>
          <a:noFill/>
          <a:ln/>
        </p:spPr>
        <p:txBody>
          <a:bodyPr wrap="square" rtlCol="0" anchor="ctr"/>
          <a:lstStyle/>
          <a:p>
            <a:pPr marL="0" indent="0" algn="r">
              <a:buNone/>
            </a:pPr>
            <a:r>
              <a:rPr lang="en-US" sz="1000" dirty="0">
                <a:solidFill>
                  <a:srgbClr val="5B6B63"/>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2D6A4F"/>
                </a:solidFill>
                <a:latin typeface="Calibri" pitchFamily="34" charset="0"/>
                <a:ea typeface="Calibri" pitchFamily="34" charset="-122"/>
                <a:cs typeface="Calibri" pitchFamily="34" charset="-120"/>
              </a:rPr>
              <a:t>ASSESSMENT OF THE MARKET</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Who we're selling to, and why</a:t>
            </a:r>
            <a:endParaRPr lang="en-US" sz="3200" dirty="0"/>
          </a:p>
        </p:txBody>
      </p:sp>
      <p:sp>
        <p:nvSpPr>
          <p:cNvPr id="4" name="Text 2"/>
          <p:cNvSpPr/>
          <p:nvPr/>
        </p:nvSpPr>
        <p:spPr>
          <a:xfrm>
            <a:off x="548640" y="1417320"/>
            <a:ext cx="10881360" cy="822960"/>
          </a:xfrm>
          <a:prstGeom prst="rect">
            <a:avLst/>
          </a:prstGeom>
          <a:noFill/>
          <a:ln/>
        </p:spPr>
        <p:txBody>
          <a:bodyPr wrap="square" rtlCol="0" anchor="t"/>
          <a:lstStyle/>
          <a:p>
            <a:pPr marL="0" indent="0">
              <a:buNone/>
            </a:pPr>
            <a:r>
              <a:rPr lang="en-US" sz="1450" dirty="0">
                <a:solidFill>
                  <a:srgbClr val="1A1A1A"/>
                </a:solidFill>
                <a:latin typeface="Calibri" pitchFamily="34" charset="0"/>
                <a:ea typeface="Calibri" pitchFamily="34" charset="-122"/>
                <a:cs typeface="Calibri" pitchFamily="34" charset="-120"/>
              </a:rPr>
              <a:t>The market: urban and peri-urban Ghana — starting in Greater Accra — where private households, schools, restaurants and small businesses generate consistent, sortable waste but sit outside the focus of large municipal sanitation contracts.</a:t>
            </a:r>
            <a:endParaRPr lang="en-US" sz="1450" dirty="0"/>
          </a:p>
        </p:txBody>
      </p:sp>
      <p:sp>
        <p:nvSpPr>
          <p:cNvPr id="5" name="Text 3"/>
          <p:cNvSpPr/>
          <p:nvPr/>
        </p:nvSpPr>
        <p:spPr>
          <a:xfrm>
            <a:off x="548640" y="2331720"/>
            <a:ext cx="7315200" cy="365760"/>
          </a:xfrm>
          <a:prstGeom prst="rect">
            <a:avLst/>
          </a:prstGeom>
          <a:noFill/>
          <a:ln/>
        </p:spPr>
        <p:txBody>
          <a:bodyPr wrap="square" rtlCol="0" anchor="ctr"/>
          <a:lstStyle/>
          <a:p>
            <a:pPr marL="0" indent="0">
              <a:buNone/>
            </a:pPr>
            <a:r>
              <a:rPr lang="en-US" sz="1700" b="1" dirty="0">
                <a:solidFill>
                  <a:srgbClr val="1B4332"/>
                </a:solidFill>
                <a:latin typeface="Cambria" pitchFamily="34" charset="0"/>
                <a:ea typeface="Cambria" pitchFamily="34" charset="-122"/>
                <a:cs typeface="Cambria" pitchFamily="34" charset="-120"/>
              </a:rPr>
              <a:t>Selected customer groups — and why</a:t>
            </a:r>
            <a:endParaRPr lang="en-US" sz="1700" dirty="0"/>
          </a:p>
        </p:txBody>
      </p:sp>
      <p:sp>
        <p:nvSpPr>
          <p:cNvPr id="6" name="Shape 4"/>
          <p:cNvSpPr/>
          <p:nvPr/>
        </p:nvSpPr>
        <p:spPr>
          <a:xfrm>
            <a:off x="548640" y="2788920"/>
            <a:ext cx="3520440" cy="2651760"/>
          </a:xfrm>
          <a:prstGeom prst="roundRect">
            <a:avLst>
              <a:gd name="adj" fmla="val 2759"/>
            </a:avLst>
          </a:prstGeom>
          <a:solidFill>
            <a:srgbClr val="E8F3EC"/>
          </a:solidFill>
          <a:ln/>
        </p:spPr>
      </p:sp>
      <p:sp>
        <p:nvSpPr>
          <p:cNvPr id="7" name="Shape 5"/>
          <p:cNvSpPr/>
          <p:nvPr/>
        </p:nvSpPr>
        <p:spPr>
          <a:xfrm>
            <a:off x="804672" y="3063240"/>
            <a:ext cx="685800" cy="685800"/>
          </a:xfrm>
          <a:prstGeom prst="ellipse">
            <a:avLst/>
          </a:prstGeom>
          <a:solidFill>
            <a:srgbClr val="1B4332"/>
          </a:solidFill>
          <a:ln/>
        </p:spPr>
      </p:sp>
      <p:pic>
        <p:nvPicPr>
          <p:cNvPr id="8" name="Image 0" descr="/home/claude/work/icons/home_FFFFFF.png"/>
          <p:cNvPicPr>
            <a:picLocks noChangeAspect="1"/>
          </p:cNvPicPr>
          <p:nvPr/>
        </p:nvPicPr>
        <p:blipFill>
          <a:blip r:embed="rId3"/>
          <a:stretch>
            <a:fillRect/>
          </a:stretch>
        </p:blipFill>
        <p:spPr>
          <a:xfrm>
            <a:off x="982980" y="3241548"/>
            <a:ext cx="329184" cy="329184"/>
          </a:xfrm>
          <a:prstGeom prst="rect">
            <a:avLst/>
          </a:prstGeom>
        </p:spPr>
      </p:pic>
      <p:sp>
        <p:nvSpPr>
          <p:cNvPr id="9" name="Text 6"/>
          <p:cNvSpPr/>
          <p:nvPr/>
        </p:nvSpPr>
        <p:spPr>
          <a:xfrm>
            <a:off x="804672" y="3886200"/>
            <a:ext cx="3017520" cy="36576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Estate households</a:t>
            </a:r>
            <a:endParaRPr lang="en-US" sz="1500" dirty="0"/>
          </a:p>
        </p:txBody>
      </p:sp>
      <p:sp>
        <p:nvSpPr>
          <p:cNvPr id="10" name="Text 7"/>
          <p:cNvSpPr/>
          <p:nvPr/>
        </p:nvSpPr>
        <p:spPr>
          <a:xfrm>
            <a:off x="804672" y="4279392"/>
            <a:ext cx="3017520" cy="1051560"/>
          </a:xfrm>
          <a:prstGeom prst="rect">
            <a:avLst/>
          </a:prstGeom>
          <a:noFill/>
          <a:ln/>
        </p:spPr>
        <p:txBody>
          <a:bodyPr wrap="square" rtlCol="0" anchor="t"/>
          <a:lstStyle/>
          <a:p>
            <a:pPr marL="0" indent="0">
              <a:buNone/>
            </a:pPr>
            <a:r>
              <a:rPr lang="en-US" sz="1200" dirty="0">
                <a:solidFill>
                  <a:srgbClr val="1A1A1A"/>
                </a:solidFill>
                <a:latin typeface="Calibri" pitchFamily="34" charset="0"/>
                <a:ea typeface="Calibri" pitchFamily="34" charset="-122"/>
                <a:cs typeface="Calibri" pitchFamily="34" charset="-120"/>
              </a:rPr>
              <a:t>Willing and able to pay for reliability; already frustrated by inconsistent service.</a:t>
            </a:r>
            <a:endParaRPr lang="en-US" sz="1200" dirty="0"/>
          </a:p>
        </p:txBody>
      </p:sp>
      <p:sp>
        <p:nvSpPr>
          <p:cNvPr id="11" name="Shape 8"/>
          <p:cNvSpPr/>
          <p:nvPr/>
        </p:nvSpPr>
        <p:spPr>
          <a:xfrm>
            <a:off x="4343400" y="2788920"/>
            <a:ext cx="3520440" cy="2651760"/>
          </a:xfrm>
          <a:prstGeom prst="roundRect">
            <a:avLst>
              <a:gd name="adj" fmla="val 2759"/>
            </a:avLst>
          </a:prstGeom>
          <a:solidFill>
            <a:srgbClr val="E8F3EC"/>
          </a:solidFill>
          <a:ln/>
        </p:spPr>
      </p:sp>
      <p:sp>
        <p:nvSpPr>
          <p:cNvPr id="12" name="Shape 9"/>
          <p:cNvSpPr/>
          <p:nvPr/>
        </p:nvSpPr>
        <p:spPr>
          <a:xfrm>
            <a:off x="4599432" y="3063240"/>
            <a:ext cx="685800" cy="685800"/>
          </a:xfrm>
          <a:prstGeom prst="ellipse">
            <a:avLst/>
          </a:prstGeom>
          <a:solidFill>
            <a:srgbClr val="1B4332"/>
          </a:solidFill>
          <a:ln/>
        </p:spPr>
      </p:sp>
      <p:pic>
        <p:nvPicPr>
          <p:cNvPr id="13" name="Image 1" descr="/home/claude/work/icons/school_FFFFFF.png"/>
          <p:cNvPicPr>
            <a:picLocks noChangeAspect="1"/>
          </p:cNvPicPr>
          <p:nvPr/>
        </p:nvPicPr>
        <p:blipFill>
          <a:blip r:embed="rId4"/>
          <a:stretch>
            <a:fillRect/>
          </a:stretch>
        </p:blipFill>
        <p:spPr>
          <a:xfrm>
            <a:off x="4777740" y="3241548"/>
            <a:ext cx="329184" cy="329184"/>
          </a:xfrm>
          <a:prstGeom prst="rect">
            <a:avLst/>
          </a:prstGeom>
        </p:spPr>
      </p:pic>
      <p:sp>
        <p:nvSpPr>
          <p:cNvPr id="14" name="Text 10"/>
          <p:cNvSpPr/>
          <p:nvPr/>
        </p:nvSpPr>
        <p:spPr>
          <a:xfrm>
            <a:off x="4599432" y="3886200"/>
            <a:ext cx="3017520" cy="36576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Schools</a:t>
            </a:r>
            <a:endParaRPr lang="en-US" sz="1500" dirty="0"/>
          </a:p>
        </p:txBody>
      </p:sp>
      <p:sp>
        <p:nvSpPr>
          <p:cNvPr id="15" name="Text 11"/>
          <p:cNvSpPr/>
          <p:nvPr/>
        </p:nvSpPr>
        <p:spPr>
          <a:xfrm>
            <a:off x="4599432" y="4279392"/>
            <a:ext cx="3017520" cy="1051560"/>
          </a:xfrm>
          <a:prstGeom prst="rect">
            <a:avLst/>
          </a:prstGeom>
          <a:noFill/>
          <a:ln/>
        </p:spPr>
        <p:txBody>
          <a:bodyPr wrap="square" rtlCol="0" anchor="t"/>
          <a:lstStyle/>
          <a:p>
            <a:pPr marL="0" indent="0">
              <a:buNone/>
            </a:pPr>
            <a:r>
              <a:rPr lang="en-US" sz="1200" dirty="0">
                <a:solidFill>
                  <a:srgbClr val="1A1A1A"/>
                </a:solidFill>
                <a:latin typeface="Calibri" pitchFamily="34" charset="0"/>
                <a:ea typeface="Calibri" pitchFamily="34" charset="-122"/>
                <a:cs typeface="Calibri" pitchFamily="34" charset="-120"/>
              </a:rPr>
              <a:t>Need dependable, documented waste handling for compliance and reputation.</a:t>
            </a:r>
            <a:endParaRPr lang="en-US" sz="1200" dirty="0"/>
          </a:p>
        </p:txBody>
      </p:sp>
      <p:sp>
        <p:nvSpPr>
          <p:cNvPr id="16" name="Shape 12"/>
          <p:cNvSpPr/>
          <p:nvPr/>
        </p:nvSpPr>
        <p:spPr>
          <a:xfrm>
            <a:off x="8138160" y="2788920"/>
            <a:ext cx="3520440" cy="2651760"/>
          </a:xfrm>
          <a:prstGeom prst="roundRect">
            <a:avLst>
              <a:gd name="adj" fmla="val 2759"/>
            </a:avLst>
          </a:prstGeom>
          <a:solidFill>
            <a:srgbClr val="E8F3EC"/>
          </a:solidFill>
          <a:ln/>
        </p:spPr>
      </p:sp>
      <p:sp>
        <p:nvSpPr>
          <p:cNvPr id="17" name="Shape 13"/>
          <p:cNvSpPr/>
          <p:nvPr/>
        </p:nvSpPr>
        <p:spPr>
          <a:xfrm>
            <a:off x="8394192" y="3063240"/>
            <a:ext cx="685800" cy="685800"/>
          </a:xfrm>
          <a:prstGeom prst="ellipse">
            <a:avLst/>
          </a:prstGeom>
          <a:solidFill>
            <a:srgbClr val="1B4332"/>
          </a:solidFill>
          <a:ln/>
        </p:spPr>
      </p:sp>
      <p:pic>
        <p:nvPicPr>
          <p:cNvPr id="18" name="Image 2" descr="/home/claude/work/icons/store_FFFFFF.png"/>
          <p:cNvPicPr>
            <a:picLocks noChangeAspect="1"/>
          </p:cNvPicPr>
          <p:nvPr/>
        </p:nvPicPr>
        <p:blipFill>
          <a:blip r:embed="rId5"/>
          <a:stretch>
            <a:fillRect/>
          </a:stretch>
        </p:blipFill>
        <p:spPr>
          <a:xfrm>
            <a:off x="8572500" y="3241548"/>
            <a:ext cx="329184" cy="329184"/>
          </a:xfrm>
          <a:prstGeom prst="rect">
            <a:avLst/>
          </a:prstGeom>
        </p:spPr>
      </p:pic>
      <p:sp>
        <p:nvSpPr>
          <p:cNvPr id="19" name="Text 14"/>
          <p:cNvSpPr/>
          <p:nvPr/>
        </p:nvSpPr>
        <p:spPr>
          <a:xfrm>
            <a:off x="8394192" y="3886200"/>
            <a:ext cx="3017520" cy="365760"/>
          </a:xfrm>
          <a:prstGeom prst="rect">
            <a:avLst/>
          </a:prstGeom>
          <a:noFill/>
          <a:ln/>
        </p:spPr>
        <p:txBody>
          <a:bodyPr wrap="square" rtlCol="0" anchor="ctr"/>
          <a:lstStyle/>
          <a:p>
            <a:pPr marL="0" indent="0">
              <a:buNone/>
            </a:pPr>
            <a:r>
              <a:rPr lang="en-US" sz="1500" b="1" dirty="0">
                <a:solidFill>
                  <a:srgbClr val="1B4332"/>
                </a:solidFill>
                <a:latin typeface="Cambria" pitchFamily="34" charset="0"/>
                <a:ea typeface="Cambria" pitchFamily="34" charset="-122"/>
                <a:cs typeface="Cambria" pitchFamily="34" charset="-120"/>
              </a:rPr>
              <a:t>Restaurants &amp; SMEs</a:t>
            </a:r>
            <a:endParaRPr lang="en-US" sz="1500" dirty="0"/>
          </a:p>
        </p:txBody>
      </p:sp>
      <p:sp>
        <p:nvSpPr>
          <p:cNvPr id="20" name="Text 15"/>
          <p:cNvSpPr/>
          <p:nvPr/>
        </p:nvSpPr>
        <p:spPr>
          <a:xfrm>
            <a:off x="8394192" y="4279392"/>
            <a:ext cx="3017520" cy="1051560"/>
          </a:xfrm>
          <a:prstGeom prst="rect">
            <a:avLst/>
          </a:prstGeom>
          <a:noFill/>
          <a:ln/>
        </p:spPr>
        <p:txBody>
          <a:bodyPr wrap="square" rtlCol="0" anchor="t"/>
          <a:lstStyle/>
          <a:p>
            <a:pPr marL="0" indent="0">
              <a:buNone/>
            </a:pPr>
            <a:r>
              <a:rPr lang="en-US" sz="1200" dirty="0">
                <a:solidFill>
                  <a:srgbClr val="1A1A1A"/>
                </a:solidFill>
                <a:latin typeface="Calibri" pitchFamily="34" charset="0"/>
                <a:ea typeface="Calibri" pitchFamily="34" charset="-122"/>
                <a:cs typeface="Calibri" pitchFamily="34" charset="-120"/>
              </a:rPr>
              <a:t>High, steady waste volume; value convenience and professional image.</a:t>
            </a:r>
            <a:endParaRPr lang="en-US" sz="1200" dirty="0"/>
          </a:p>
        </p:txBody>
      </p:sp>
      <p:sp>
        <p:nvSpPr>
          <p:cNvPr id="21" name="Text 16"/>
          <p:cNvSpPr/>
          <p:nvPr/>
        </p:nvSpPr>
        <p:spPr>
          <a:xfrm>
            <a:off x="11430000" y="6446520"/>
            <a:ext cx="548640" cy="320040"/>
          </a:xfrm>
          <a:prstGeom prst="rect">
            <a:avLst/>
          </a:prstGeom>
          <a:noFill/>
          <a:ln/>
        </p:spPr>
        <p:txBody>
          <a:bodyPr wrap="square" rtlCol="0" anchor="ctr"/>
          <a:lstStyle/>
          <a:p>
            <a:pPr marL="0" indent="0" algn="r">
              <a:buNone/>
            </a:pPr>
            <a:r>
              <a:rPr lang="en-US" sz="1000" dirty="0">
                <a:solidFill>
                  <a:srgbClr val="5B6B63"/>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2D6A4F"/>
                </a:solidFill>
                <a:latin typeface="Calibri" pitchFamily="34" charset="0"/>
                <a:ea typeface="Calibri" pitchFamily="34" charset="-122"/>
                <a:cs typeface="Calibri" pitchFamily="34" charset="-120"/>
              </a:rPr>
              <a:t>ASSESSMENT OF THE MARKET</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Market size, current alternatives &amp; pricing</a:t>
            </a:r>
            <a:endParaRPr lang="en-US" sz="3200" dirty="0"/>
          </a:p>
        </p:txBody>
      </p:sp>
      <p:sp>
        <p:nvSpPr>
          <p:cNvPr id="4" name="Shape 2"/>
          <p:cNvSpPr/>
          <p:nvPr/>
        </p:nvSpPr>
        <p:spPr>
          <a:xfrm>
            <a:off x="548640" y="1554480"/>
            <a:ext cx="3566160" cy="4480560"/>
          </a:xfrm>
          <a:prstGeom prst="roundRect">
            <a:avLst>
              <a:gd name="adj" fmla="val 2051"/>
            </a:avLst>
          </a:prstGeom>
          <a:solidFill>
            <a:srgbClr val="1B4332"/>
          </a:solidFill>
          <a:ln/>
        </p:spPr>
      </p:sp>
      <p:sp>
        <p:nvSpPr>
          <p:cNvPr id="5" name="Text 3"/>
          <p:cNvSpPr/>
          <p:nvPr/>
        </p:nvSpPr>
        <p:spPr>
          <a:xfrm>
            <a:off x="822960" y="1783080"/>
            <a:ext cx="3108960" cy="548640"/>
          </a:xfrm>
          <a:prstGeom prst="rect">
            <a:avLst/>
          </a:prstGeom>
          <a:noFill/>
          <a:ln/>
        </p:spPr>
        <p:txBody>
          <a:bodyPr wrap="square" rtlCol="0" anchor="ctr"/>
          <a:lstStyle/>
          <a:p>
            <a:pPr marL="0" indent="0">
              <a:buNone/>
            </a:pPr>
            <a:r>
              <a:rPr lang="en-US" sz="1150" b="1" kern="0" spc="100" dirty="0">
                <a:solidFill>
                  <a:srgbClr val="F59E0B"/>
                </a:solidFill>
                <a:latin typeface="Calibri" pitchFamily="34" charset="0"/>
                <a:ea typeface="Calibri" pitchFamily="34" charset="-122"/>
                <a:cs typeface="Calibri" pitchFamily="34" charset="-120"/>
              </a:rPr>
              <a:t>MARKET SIZE — WHY IT'S SUBSTANTIAL</a:t>
            </a:r>
            <a:endParaRPr lang="en-US" sz="1150" dirty="0"/>
          </a:p>
        </p:txBody>
      </p:sp>
      <p:sp>
        <p:nvSpPr>
          <p:cNvPr id="6" name="Text 4"/>
          <p:cNvSpPr/>
          <p:nvPr/>
        </p:nvSpPr>
        <p:spPr>
          <a:xfrm>
            <a:off x="822960" y="2331720"/>
            <a:ext cx="3063240" cy="1280160"/>
          </a:xfrm>
          <a:prstGeom prst="rect">
            <a:avLst/>
          </a:prstGeom>
          <a:noFill/>
          <a:ln/>
        </p:spPr>
        <p:txBody>
          <a:bodyPr wrap="square" rtlCol="0" anchor="t"/>
          <a:lstStyle/>
          <a:p>
            <a:pPr marL="0" indent="0">
              <a:buNone/>
            </a:pPr>
            <a:r>
              <a:rPr lang="en-US" sz="1250" dirty="0">
                <a:solidFill>
                  <a:srgbClr val="FFFFFF"/>
                </a:solidFill>
                <a:latin typeface="Calibri" pitchFamily="34" charset="0"/>
                <a:ea typeface="Calibri" pitchFamily="34" charset="-122"/>
                <a:cs typeface="Calibri" pitchFamily="34" charset="-120"/>
              </a:rPr>
              <a:t>Rapid growth of gated estates and private housing across Greater Accra and Kumasi is expanding exactly the segment least served by public waste contracts.</a:t>
            </a:r>
            <a:endParaRPr lang="en-US" sz="1250" dirty="0"/>
          </a:p>
        </p:txBody>
      </p:sp>
      <p:sp>
        <p:nvSpPr>
          <p:cNvPr id="7" name="Shape 5"/>
          <p:cNvSpPr/>
          <p:nvPr/>
        </p:nvSpPr>
        <p:spPr>
          <a:xfrm>
            <a:off x="822960" y="3657600"/>
            <a:ext cx="3063240" cy="18288"/>
          </a:xfrm>
          <a:prstGeom prst="rect">
            <a:avLst/>
          </a:prstGeom>
          <a:solidFill>
            <a:srgbClr val="2D6A4F"/>
          </a:solidFill>
          <a:ln/>
        </p:spPr>
      </p:sp>
      <p:sp>
        <p:nvSpPr>
          <p:cNvPr id="8" name="Text 6"/>
          <p:cNvSpPr/>
          <p:nvPr/>
        </p:nvSpPr>
        <p:spPr>
          <a:xfrm>
            <a:off x="822960" y="3840480"/>
            <a:ext cx="3063240" cy="1371600"/>
          </a:xfrm>
          <a:prstGeom prst="rect">
            <a:avLst/>
          </a:prstGeom>
          <a:noFill/>
          <a:ln/>
        </p:spPr>
        <p:txBody>
          <a:bodyPr wrap="square" rtlCol="0" anchor="t"/>
          <a:lstStyle/>
          <a:p>
            <a:pPr marL="0" indent="0">
              <a:buNone/>
            </a:pPr>
            <a:r>
              <a:rPr lang="en-US" sz="1250" i="1" dirty="0">
                <a:solidFill>
                  <a:srgbClr val="CFE8DA"/>
                </a:solidFill>
                <a:latin typeface="Calibri" pitchFamily="34" charset="0"/>
                <a:ea typeface="Calibri" pitchFamily="34" charset="-122"/>
                <a:cs typeface="Calibri" pitchFamily="34" charset="-120"/>
              </a:rPr>
              <a:t>Every school, restaurant and SME in these areas is a recurring, not one-off, customer — supporting a subscription model over pay-per-pickup.</a:t>
            </a:r>
            <a:endParaRPr lang="en-US" sz="1250" dirty="0"/>
          </a:p>
        </p:txBody>
      </p:sp>
      <p:sp>
        <p:nvSpPr>
          <p:cNvPr id="9" name="Text 7"/>
          <p:cNvSpPr/>
          <p:nvPr/>
        </p:nvSpPr>
        <p:spPr>
          <a:xfrm>
            <a:off x="4434840" y="1554480"/>
            <a:ext cx="7178040" cy="36576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How the problem is handled today</a:t>
            </a:r>
            <a:endParaRPr lang="en-US" sz="1600" dirty="0"/>
          </a:p>
        </p:txBody>
      </p:sp>
      <p:sp>
        <p:nvSpPr>
          <p:cNvPr id="10" name="Shape 8"/>
          <p:cNvSpPr/>
          <p:nvPr/>
        </p:nvSpPr>
        <p:spPr>
          <a:xfrm>
            <a:off x="4434840" y="2075688"/>
            <a:ext cx="109728" cy="109728"/>
          </a:xfrm>
          <a:prstGeom prst="ellipse">
            <a:avLst/>
          </a:prstGeom>
          <a:solidFill>
            <a:srgbClr val="F59E0B"/>
          </a:solidFill>
          <a:ln/>
        </p:spPr>
      </p:sp>
      <p:sp>
        <p:nvSpPr>
          <p:cNvPr id="11" name="Text 9"/>
          <p:cNvSpPr/>
          <p:nvPr/>
        </p:nvSpPr>
        <p:spPr>
          <a:xfrm>
            <a:off x="4709160" y="1920240"/>
            <a:ext cx="6858000" cy="45720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Informal collectors / tricycle operators — cheap but unreliable, no recycling</a:t>
            </a:r>
            <a:endParaRPr lang="en-US" sz="1300" dirty="0"/>
          </a:p>
        </p:txBody>
      </p:sp>
      <p:sp>
        <p:nvSpPr>
          <p:cNvPr id="12" name="Shape 10"/>
          <p:cNvSpPr/>
          <p:nvPr/>
        </p:nvSpPr>
        <p:spPr>
          <a:xfrm>
            <a:off x="4434840" y="2578608"/>
            <a:ext cx="109728" cy="109728"/>
          </a:xfrm>
          <a:prstGeom prst="ellipse">
            <a:avLst/>
          </a:prstGeom>
          <a:solidFill>
            <a:srgbClr val="F59E0B"/>
          </a:solidFill>
          <a:ln/>
        </p:spPr>
      </p:sp>
      <p:sp>
        <p:nvSpPr>
          <p:cNvPr id="13" name="Text 11"/>
          <p:cNvSpPr/>
          <p:nvPr/>
        </p:nvSpPr>
        <p:spPr>
          <a:xfrm>
            <a:off x="4709160" y="2423160"/>
            <a:ext cx="6858000" cy="45720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Communal dump points and ad-hoc private truck hire</a:t>
            </a:r>
            <a:endParaRPr lang="en-US" sz="1300" dirty="0"/>
          </a:p>
        </p:txBody>
      </p:sp>
      <p:sp>
        <p:nvSpPr>
          <p:cNvPr id="14" name="Shape 12"/>
          <p:cNvSpPr/>
          <p:nvPr/>
        </p:nvSpPr>
        <p:spPr>
          <a:xfrm>
            <a:off x="4434840" y="3081528"/>
            <a:ext cx="109728" cy="109728"/>
          </a:xfrm>
          <a:prstGeom prst="ellipse">
            <a:avLst/>
          </a:prstGeom>
          <a:solidFill>
            <a:srgbClr val="F59E0B"/>
          </a:solidFill>
          <a:ln/>
        </p:spPr>
      </p:sp>
      <p:sp>
        <p:nvSpPr>
          <p:cNvPr id="15" name="Text 13"/>
          <p:cNvSpPr/>
          <p:nvPr/>
        </p:nvSpPr>
        <p:spPr>
          <a:xfrm>
            <a:off x="4709160" y="2926080"/>
            <a:ext cx="6858000" cy="45720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Occasional coverage from municipal/assembly routes, when available</a:t>
            </a:r>
            <a:endParaRPr lang="en-US" sz="1300" dirty="0"/>
          </a:p>
        </p:txBody>
      </p:sp>
      <p:sp>
        <p:nvSpPr>
          <p:cNvPr id="16" name="Text 14"/>
          <p:cNvSpPr/>
          <p:nvPr/>
        </p:nvSpPr>
        <p:spPr>
          <a:xfrm>
            <a:off x="4434840" y="3657600"/>
            <a:ext cx="7178040" cy="36576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Proposed pricing &amp; justification</a:t>
            </a:r>
            <a:endParaRPr lang="en-US" sz="1600" dirty="0"/>
          </a:p>
        </p:txBody>
      </p:sp>
      <p:sp>
        <p:nvSpPr>
          <p:cNvPr id="17" name="Text 15"/>
          <p:cNvSpPr/>
          <p:nvPr/>
        </p:nvSpPr>
        <p:spPr>
          <a:xfrm>
            <a:off x="4434840" y="4114800"/>
            <a:ext cx="7178040" cy="173736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Tiers of GHS 40–75/month sit below the cost of ad-hoc private truck hire but above free informal options — justified by the added convenience, reliability and reward value that informal alternatives cannot offer.</a:t>
            </a:r>
            <a:endParaRPr lang="en-US" sz="1300" dirty="0"/>
          </a:p>
        </p:txBody>
      </p:sp>
      <p:sp>
        <p:nvSpPr>
          <p:cNvPr id="18" name="Text 16"/>
          <p:cNvSpPr/>
          <p:nvPr/>
        </p:nvSpPr>
        <p:spPr>
          <a:xfrm>
            <a:off x="11430000" y="6446520"/>
            <a:ext cx="548640" cy="320040"/>
          </a:xfrm>
          <a:prstGeom prst="rect">
            <a:avLst/>
          </a:prstGeom>
          <a:noFill/>
          <a:ln/>
        </p:spPr>
        <p:txBody>
          <a:bodyPr wrap="square" rtlCol="0" anchor="ctr"/>
          <a:lstStyle/>
          <a:p>
            <a:pPr marL="0" indent="0" algn="r">
              <a:buNone/>
            </a:pPr>
            <a:r>
              <a:rPr lang="en-US" sz="1000" dirty="0">
                <a:solidFill>
                  <a:srgbClr val="5B6B63"/>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2D6A4F"/>
                </a:solidFill>
                <a:latin typeface="Calibri" pitchFamily="34" charset="0"/>
                <a:ea typeface="Calibri" pitchFamily="34" charset="-122"/>
                <a:cs typeface="Calibri" pitchFamily="34" charset="-120"/>
              </a:rPr>
              <a:t>THE COMPETITIVE ENVIRONMENT</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Who else is in this space</a:t>
            </a:r>
            <a:endParaRPr lang="en-US" sz="3200" dirty="0"/>
          </a:p>
        </p:txBody>
      </p:sp>
      <p:sp>
        <p:nvSpPr>
          <p:cNvPr id="4" name="Shape 2"/>
          <p:cNvSpPr/>
          <p:nvPr/>
        </p:nvSpPr>
        <p:spPr>
          <a:xfrm>
            <a:off x="548640" y="1463040"/>
            <a:ext cx="1828800" cy="502920"/>
          </a:xfrm>
          <a:prstGeom prst="rect">
            <a:avLst/>
          </a:prstGeom>
          <a:solidFill>
            <a:srgbClr val="1B4332"/>
          </a:solidFill>
          <a:ln w="9525">
            <a:solidFill>
              <a:srgbClr val="D8E6DE"/>
            </a:solidFill>
            <a:prstDash val="solid"/>
          </a:ln>
        </p:spPr>
      </p:sp>
      <p:sp>
        <p:nvSpPr>
          <p:cNvPr id="5" name="Text 3"/>
          <p:cNvSpPr/>
          <p:nvPr/>
        </p:nvSpPr>
        <p:spPr>
          <a:xfrm>
            <a:off x="658368" y="1463040"/>
            <a:ext cx="1609344" cy="502920"/>
          </a:xfrm>
          <a:prstGeom prst="rect">
            <a:avLst/>
          </a:prstGeom>
          <a:noFill/>
          <a:ln/>
        </p:spPr>
        <p:txBody>
          <a:bodyPr wrap="square" rtlCol="0" anchor="ctr"/>
          <a:lstStyle/>
          <a:p>
            <a:pPr marL="0" indent="0">
              <a:buNone/>
            </a:pPr>
            <a:endParaRPr lang="en-US" sz="1200" dirty="0"/>
          </a:p>
        </p:txBody>
      </p:sp>
      <p:sp>
        <p:nvSpPr>
          <p:cNvPr id="6" name="Shape 4"/>
          <p:cNvSpPr/>
          <p:nvPr/>
        </p:nvSpPr>
        <p:spPr>
          <a:xfrm>
            <a:off x="2377440" y="1463040"/>
            <a:ext cx="3063240" cy="502920"/>
          </a:xfrm>
          <a:prstGeom prst="rect">
            <a:avLst/>
          </a:prstGeom>
          <a:solidFill>
            <a:srgbClr val="1B4332"/>
          </a:solidFill>
          <a:ln w="9525">
            <a:solidFill>
              <a:srgbClr val="D8E6DE"/>
            </a:solidFill>
            <a:prstDash val="solid"/>
          </a:ln>
        </p:spPr>
      </p:sp>
      <p:sp>
        <p:nvSpPr>
          <p:cNvPr id="7" name="Text 5"/>
          <p:cNvSpPr/>
          <p:nvPr/>
        </p:nvSpPr>
        <p:spPr>
          <a:xfrm>
            <a:off x="2487168" y="1463040"/>
            <a:ext cx="2843784" cy="50292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Zoomlion Ghana</a:t>
            </a:r>
            <a:endParaRPr lang="en-US" sz="1150" dirty="0"/>
          </a:p>
        </p:txBody>
      </p:sp>
      <p:sp>
        <p:nvSpPr>
          <p:cNvPr id="8" name="Shape 6"/>
          <p:cNvSpPr/>
          <p:nvPr/>
        </p:nvSpPr>
        <p:spPr>
          <a:xfrm>
            <a:off x="5440680" y="1463040"/>
            <a:ext cx="3063240" cy="502920"/>
          </a:xfrm>
          <a:prstGeom prst="rect">
            <a:avLst/>
          </a:prstGeom>
          <a:solidFill>
            <a:srgbClr val="1B4332"/>
          </a:solidFill>
          <a:ln w="9525">
            <a:solidFill>
              <a:srgbClr val="D8E6DE"/>
            </a:solidFill>
            <a:prstDash val="solid"/>
          </a:ln>
        </p:spPr>
      </p:sp>
      <p:sp>
        <p:nvSpPr>
          <p:cNvPr id="9" name="Text 7"/>
          <p:cNvSpPr/>
          <p:nvPr/>
        </p:nvSpPr>
        <p:spPr>
          <a:xfrm>
            <a:off x="5550408" y="1463040"/>
            <a:ext cx="2843784" cy="502920"/>
          </a:xfrm>
          <a:prstGeom prst="rect">
            <a:avLst/>
          </a:prstGeom>
          <a:noFill/>
          <a:ln/>
        </p:spPr>
        <p:txBody>
          <a:bodyPr wrap="square"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Informal collectors</a:t>
            </a:r>
            <a:endParaRPr lang="en-US" sz="1150" dirty="0"/>
          </a:p>
        </p:txBody>
      </p:sp>
      <p:sp>
        <p:nvSpPr>
          <p:cNvPr id="10" name="Shape 8"/>
          <p:cNvSpPr/>
          <p:nvPr/>
        </p:nvSpPr>
        <p:spPr>
          <a:xfrm>
            <a:off x="8503920" y="1463040"/>
            <a:ext cx="3108960" cy="502920"/>
          </a:xfrm>
          <a:prstGeom prst="rect">
            <a:avLst/>
          </a:prstGeom>
          <a:solidFill>
            <a:srgbClr val="1B4332"/>
          </a:solidFill>
          <a:ln w="9525">
            <a:solidFill>
              <a:srgbClr val="D8E6DE"/>
            </a:solidFill>
            <a:prstDash val="solid"/>
          </a:ln>
        </p:spPr>
      </p:sp>
      <p:sp>
        <p:nvSpPr>
          <p:cNvPr id="11" name="Text 9"/>
          <p:cNvSpPr/>
          <p:nvPr/>
        </p:nvSpPr>
        <p:spPr>
          <a:xfrm>
            <a:off x="8613648" y="1463040"/>
            <a:ext cx="2889504" cy="502920"/>
          </a:xfrm>
          <a:prstGeom prst="rect">
            <a:avLst/>
          </a:prstGeom>
          <a:noFill/>
          <a:ln/>
        </p:spPr>
        <p:txBody>
          <a:bodyPr wrap="square" rtlCol="0" anchor="ctr"/>
          <a:lstStyle/>
          <a:p>
            <a:pPr marL="0" indent="0">
              <a:buNone/>
            </a:pPr>
            <a:r>
              <a:rPr lang="en-US" sz="1150" b="1" dirty="0">
                <a:solidFill>
                  <a:srgbClr val="F59E0B"/>
                </a:solidFill>
                <a:latin typeface="Calibri" pitchFamily="34" charset="0"/>
                <a:ea typeface="Calibri" pitchFamily="34" charset="-122"/>
                <a:cs typeface="Calibri" pitchFamily="34" charset="-120"/>
              </a:rPr>
              <a:t>EcoBin Ghana</a:t>
            </a:r>
            <a:endParaRPr lang="en-US" sz="1150" dirty="0"/>
          </a:p>
        </p:txBody>
      </p:sp>
      <p:sp>
        <p:nvSpPr>
          <p:cNvPr id="12" name="Shape 10"/>
          <p:cNvSpPr/>
          <p:nvPr/>
        </p:nvSpPr>
        <p:spPr>
          <a:xfrm>
            <a:off x="548640" y="1965960"/>
            <a:ext cx="1828800" cy="777240"/>
          </a:xfrm>
          <a:prstGeom prst="rect">
            <a:avLst/>
          </a:prstGeom>
          <a:solidFill>
            <a:srgbClr val="FFFFFF"/>
          </a:solidFill>
          <a:ln w="9525">
            <a:solidFill>
              <a:srgbClr val="D8E6DE"/>
            </a:solidFill>
            <a:prstDash val="solid"/>
          </a:ln>
        </p:spPr>
      </p:sp>
      <p:sp>
        <p:nvSpPr>
          <p:cNvPr id="13" name="Text 11"/>
          <p:cNvSpPr/>
          <p:nvPr/>
        </p:nvSpPr>
        <p:spPr>
          <a:xfrm>
            <a:off x="658368" y="1965960"/>
            <a:ext cx="1609344" cy="77724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Focus</a:t>
            </a:r>
            <a:endParaRPr lang="en-US" sz="1200" dirty="0"/>
          </a:p>
        </p:txBody>
      </p:sp>
      <p:sp>
        <p:nvSpPr>
          <p:cNvPr id="14" name="Shape 12"/>
          <p:cNvSpPr/>
          <p:nvPr/>
        </p:nvSpPr>
        <p:spPr>
          <a:xfrm>
            <a:off x="2377440" y="1965960"/>
            <a:ext cx="3063240" cy="777240"/>
          </a:xfrm>
          <a:prstGeom prst="rect">
            <a:avLst/>
          </a:prstGeom>
          <a:solidFill>
            <a:srgbClr val="FFFFFF"/>
          </a:solidFill>
          <a:ln w="9525">
            <a:solidFill>
              <a:srgbClr val="D8E6DE"/>
            </a:solidFill>
            <a:prstDash val="solid"/>
          </a:ln>
        </p:spPr>
      </p:sp>
      <p:sp>
        <p:nvSpPr>
          <p:cNvPr id="15" name="Text 13"/>
          <p:cNvSpPr/>
          <p:nvPr/>
        </p:nvSpPr>
        <p:spPr>
          <a:xfrm>
            <a:off x="2487168" y="1965960"/>
            <a:ext cx="2843784" cy="777240"/>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Municipal &amp; public contracts, citywide fumigation, landfill mgmt.</a:t>
            </a:r>
            <a:endParaRPr lang="en-US" sz="1150" dirty="0"/>
          </a:p>
        </p:txBody>
      </p:sp>
      <p:sp>
        <p:nvSpPr>
          <p:cNvPr id="16" name="Shape 14"/>
          <p:cNvSpPr/>
          <p:nvPr/>
        </p:nvSpPr>
        <p:spPr>
          <a:xfrm>
            <a:off x="5440680" y="1965960"/>
            <a:ext cx="3063240" cy="777240"/>
          </a:xfrm>
          <a:prstGeom prst="rect">
            <a:avLst/>
          </a:prstGeom>
          <a:solidFill>
            <a:srgbClr val="FFFFFF"/>
          </a:solidFill>
          <a:ln w="9525">
            <a:solidFill>
              <a:srgbClr val="D8E6DE"/>
            </a:solidFill>
            <a:prstDash val="solid"/>
          </a:ln>
        </p:spPr>
      </p:sp>
      <p:sp>
        <p:nvSpPr>
          <p:cNvPr id="17" name="Text 15"/>
          <p:cNvSpPr/>
          <p:nvPr/>
        </p:nvSpPr>
        <p:spPr>
          <a:xfrm>
            <a:off x="5550408" y="1965960"/>
            <a:ext cx="2843784" cy="777240"/>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Ad-hoc household pickup</a:t>
            </a:r>
            <a:endParaRPr lang="en-US" sz="1150" dirty="0"/>
          </a:p>
        </p:txBody>
      </p:sp>
      <p:sp>
        <p:nvSpPr>
          <p:cNvPr id="18" name="Shape 16"/>
          <p:cNvSpPr/>
          <p:nvPr/>
        </p:nvSpPr>
        <p:spPr>
          <a:xfrm>
            <a:off x="8503920" y="1965960"/>
            <a:ext cx="3108960" cy="777240"/>
          </a:xfrm>
          <a:prstGeom prst="rect">
            <a:avLst/>
          </a:prstGeom>
          <a:solidFill>
            <a:srgbClr val="FFFFFF"/>
          </a:solidFill>
          <a:ln w="9525">
            <a:solidFill>
              <a:srgbClr val="D8E6DE"/>
            </a:solidFill>
            <a:prstDash val="solid"/>
          </a:ln>
        </p:spPr>
      </p:sp>
      <p:sp>
        <p:nvSpPr>
          <p:cNvPr id="19" name="Text 17"/>
          <p:cNvSpPr/>
          <p:nvPr/>
        </p:nvSpPr>
        <p:spPr>
          <a:xfrm>
            <a:off x="8613648" y="1965960"/>
            <a:ext cx="2889504" cy="777240"/>
          </a:xfrm>
          <a:prstGeom prst="rect">
            <a:avLst/>
          </a:prstGeom>
          <a:noFill/>
          <a:ln/>
        </p:spPr>
        <p:txBody>
          <a:bodyPr wrap="square" rtlCol="0" anchor="ctr"/>
          <a:lstStyle/>
          <a:p>
            <a:pPr marL="0" indent="0">
              <a:buNone/>
            </a:pPr>
            <a:r>
              <a:rPr lang="en-US" sz="1150" dirty="0">
                <a:solidFill>
                  <a:srgbClr val="1B4332"/>
                </a:solidFill>
                <a:latin typeface="Calibri" pitchFamily="34" charset="0"/>
                <a:ea typeface="Calibri" pitchFamily="34" charset="-122"/>
                <a:cs typeface="Calibri" pitchFamily="34" charset="-120"/>
              </a:rPr>
              <a:t>Private estates, schools, SMEs — the underserved niche</a:t>
            </a:r>
            <a:endParaRPr lang="en-US" sz="1150" dirty="0"/>
          </a:p>
        </p:txBody>
      </p:sp>
      <p:sp>
        <p:nvSpPr>
          <p:cNvPr id="20" name="Shape 18"/>
          <p:cNvSpPr/>
          <p:nvPr/>
        </p:nvSpPr>
        <p:spPr>
          <a:xfrm>
            <a:off x="548640" y="2743200"/>
            <a:ext cx="1828800" cy="640080"/>
          </a:xfrm>
          <a:prstGeom prst="rect">
            <a:avLst/>
          </a:prstGeom>
          <a:solidFill>
            <a:srgbClr val="E8F3EC"/>
          </a:solidFill>
          <a:ln w="9525">
            <a:solidFill>
              <a:srgbClr val="D8E6DE"/>
            </a:solidFill>
            <a:prstDash val="solid"/>
          </a:ln>
        </p:spPr>
      </p:sp>
      <p:sp>
        <p:nvSpPr>
          <p:cNvPr id="21" name="Text 19"/>
          <p:cNvSpPr/>
          <p:nvPr/>
        </p:nvSpPr>
        <p:spPr>
          <a:xfrm>
            <a:off x="658368" y="2743200"/>
            <a:ext cx="1609344" cy="64008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Reliability</a:t>
            </a:r>
            <a:endParaRPr lang="en-US" sz="1200" dirty="0"/>
          </a:p>
        </p:txBody>
      </p:sp>
      <p:sp>
        <p:nvSpPr>
          <p:cNvPr id="22" name="Shape 20"/>
          <p:cNvSpPr/>
          <p:nvPr/>
        </p:nvSpPr>
        <p:spPr>
          <a:xfrm>
            <a:off x="2377440" y="2743200"/>
            <a:ext cx="3063240" cy="640080"/>
          </a:xfrm>
          <a:prstGeom prst="rect">
            <a:avLst/>
          </a:prstGeom>
          <a:solidFill>
            <a:srgbClr val="E8F3EC"/>
          </a:solidFill>
          <a:ln w="9525">
            <a:solidFill>
              <a:srgbClr val="D8E6DE"/>
            </a:solidFill>
            <a:prstDash val="solid"/>
          </a:ln>
        </p:spPr>
      </p:sp>
      <p:sp>
        <p:nvSpPr>
          <p:cNvPr id="23" name="Text 21"/>
          <p:cNvSpPr/>
          <p:nvPr/>
        </p:nvSpPr>
        <p:spPr>
          <a:xfrm>
            <a:off x="2487168" y="2743200"/>
            <a:ext cx="2843784" cy="640080"/>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Strong on public infrastructure, variable for private estates</a:t>
            </a:r>
            <a:endParaRPr lang="en-US" sz="1150" dirty="0"/>
          </a:p>
        </p:txBody>
      </p:sp>
      <p:sp>
        <p:nvSpPr>
          <p:cNvPr id="24" name="Shape 22"/>
          <p:cNvSpPr/>
          <p:nvPr/>
        </p:nvSpPr>
        <p:spPr>
          <a:xfrm>
            <a:off x="5440680" y="2743200"/>
            <a:ext cx="3063240" cy="640080"/>
          </a:xfrm>
          <a:prstGeom prst="rect">
            <a:avLst/>
          </a:prstGeom>
          <a:solidFill>
            <a:srgbClr val="E8F3EC"/>
          </a:solidFill>
          <a:ln w="9525">
            <a:solidFill>
              <a:srgbClr val="D8E6DE"/>
            </a:solidFill>
            <a:prstDash val="solid"/>
          </a:ln>
        </p:spPr>
      </p:sp>
      <p:sp>
        <p:nvSpPr>
          <p:cNvPr id="25" name="Text 23"/>
          <p:cNvSpPr/>
          <p:nvPr/>
        </p:nvSpPr>
        <p:spPr>
          <a:xfrm>
            <a:off x="5550408" y="2743200"/>
            <a:ext cx="2843784" cy="640080"/>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Inconsistent, no schedule</a:t>
            </a:r>
            <a:endParaRPr lang="en-US" sz="1150" dirty="0"/>
          </a:p>
        </p:txBody>
      </p:sp>
      <p:sp>
        <p:nvSpPr>
          <p:cNvPr id="26" name="Shape 24"/>
          <p:cNvSpPr/>
          <p:nvPr/>
        </p:nvSpPr>
        <p:spPr>
          <a:xfrm>
            <a:off x="8503920" y="2743200"/>
            <a:ext cx="3108960" cy="640080"/>
          </a:xfrm>
          <a:prstGeom prst="rect">
            <a:avLst/>
          </a:prstGeom>
          <a:solidFill>
            <a:srgbClr val="E8F3EC"/>
          </a:solidFill>
          <a:ln w="9525">
            <a:solidFill>
              <a:srgbClr val="D8E6DE"/>
            </a:solidFill>
            <a:prstDash val="solid"/>
          </a:ln>
        </p:spPr>
      </p:sp>
      <p:sp>
        <p:nvSpPr>
          <p:cNvPr id="27" name="Text 25"/>
          <p:cNvSpPr/>
          <p:nvPr/>
        </p:nvSpPr>
        <p:spPr>
          <a:xfrm>
            <a:off x="8613648" y="2743200"/>
            <a:ext cx="2889504" cy="640080"/>
          </a:xfrm>
          <a:prstGeom prst="rect">
            <a:avLst/>
          </a:prstGeom>
          <a:noFill/>
          <a:ln/>
        </p:spPr>
        <p:txBody>
          <a:bodyPr wrap="square" rtlCol="0" anchor="ctr"/>
          <a:lstStyle/>
          <a:p>
            <a:pPr marL="0" indent="0">
              <a:buNone/>
            </a:pPr>
            <a:r>
              <a:rPr lang="en-US" sz="1150" dirty="0">
                <a:solidFill>
                  <a:srgbClr val="1B4332"/>
                </a:solidFill>
                <a:latin typeface="Calibri" pitchFamily="34" charset="0"/>
                <a:ea typeface="Calibri" pitchFamily="34" charset="-122"/>
                <a:cs typeface="Calibri" pitchFamily="34" charset="-120"/>
              </a:rPr>
              <a:t>Scheduled, app-tracked pickups</a:t>
            </a:r>
            <a:endParaRPr lang="en-US" sz="1150" dirty="0"/>
          </a:p>
        </p:txBody>
      </p:sp>
      <p:sp>
        <p:nvSpPr>
          <p:cNvPr id="28" name="Shape 26"/>
          <p:cNvSpPr/>
          <p:nvPr/>
        </p:nvSpPr>
        <p:spPr>
          <a:xfrm>
            <a:off x="548640" y="3383280"/>
            <a:ext cx="1828800" cy="640080"/>
          </a:xfrm>
          <a:prstGeom prst="rect">
            <a:avLst/>
          </a:prstGeom>
          <a:solidFill>
            <a:srgbClr val="FFFFFF"/>
          </a:solidFill>
          <a:ln w="9525">
            <a:solidFill>
              <a:srgbClr val="D8E6DE"/>
            </a:solidFill>
            <a:prstDash val="solid"/>
          </a:ln>
        </p:spPr>
      </p:sp>
      <p:sp>
        <p:nvSpPr>
          <p:cNvPr id="29" name="Text 27"/>
          <p:cNvSpPr/>
          <p:nvPr/>
        </p:nvSpPr>
        <p:spPr>
          <a:xfrm>
            <a:off x="658368" y="3383280"/>
            <a:ext cx="1609344" cy="64008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Recycling</a:t>
            </a:r>
            <a:endParaRPr lang="en-US" sz="1200" dirty="0"/>
          </a:p>
        </p:txBody>
      </p:sp>
      <p:sp>
        <p:nvSpPr>
          <p:cNvPr id="30" name="Shape 28"/>
          <p:cNvSpPr/>
          <p:nvPr/>
        </p:nvSpPr>
        <p:spPr>
          <a:xfrm>
            <a:off x="2377440" y="3383280"/>
            <a:ext cx="3063240" cy="640080"/>
          </a:xfrm>
          <a:prstGeom prst="rect">
            <a:avLst/>
          </a:prstGeom>
          <a:solidFill>
            <a:srgbClr val="FFFFFF"/>
          </a:solidFill>
          <a:ln w="9525">
            <a:solidFill>
              <a:srgbClr val="D8E6DE"/>
            </a:solidFill>
            <a:prstDash val="solid"/>
          </a:ln>
        </p:spPr>
      </p:sp>
      <p:sp>
        <p:nvSpPr>
          <p:cNvPr id="31" name="Text 29"/>
          <p:cNvSpPr/>
          <p:nvPr/>
        </p:nvSpPr>
        <p:spPr>
          <a:xfrm>
            <a:off x="2487168" y="3383280"/>
            <a:ext cx="2843784" cy="640080"/>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Some formal recycling/landfill operations</a:t>
            </a:r>
            <a:endParaRPr lang="en-US" sz="1150" dirty="0"/>
          </a:p>
        </p:txBody>
      </p:sp>
      <p:sp>
        <p:nvSpPr>
          <p:cNvPr id="32" name="Shape 30"/>
          <p:cNvSpPr/>
          <p:nvPr/>
        </p:nvSpPr>
        <p:spPr>
          <a:xfrm>
            <a:off x="5440680" y="3383280"/>
            <a:ext cx="3063240" cy="640080"/>
          </a:xfrm>
          <a:prstGeom prst="rect">
            <a:avLst/>
          </a:prstGeom>
          <a:solidFill>
            <a:srgbClr val="FFFFFF"/>
          </a:solidFill>
          <a:ln w="9525">
            <a:solidFill>
              <a:srgbClr val="D8E6DE"/>
            </a:solidFill>
            <a:prstDash val="solid"/>
          </a:ln>
        </p:spPr>
      </p:sp>
      <p:sp>
        <p:nvSpPr>
          <p:cNvPr id="33" name="Text 31"/>
          <p:cNvSpPr/>
          <p:nvPr/>
        </p:nvSpPr>
        <p:spPr>
          <a:xfrm>
            <a:off x="5550408" y="3383280"/>
            <a:ext cx="2843784" cy="640080"/>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None</a:t>
            </a:r>
            <a:endParaRPr lang="en-US" sz="1150" dirty="0"/>
          </a:p>
        </p:txBody>
      </p:sp>
      <p:sp>
        <p:nvSpPr>
          <p:cNvPr id="34" name="Shape 32"/>
          <p:cNvSpPr/>
          <p:nvPr/>
        </p:nvSpPr>
        <p:spPr>
          <a:xfrm>
            <a:off x="8503920" y="3383280"/>
            <a:ext cx="3108960" cy="640080"/>
          </a:xfrm>
          <a:prstGeom prst="rect">
            <a:avLst/>
          </a:prstGeom>
          <a:solidFill>
            <a:srgbClr val="FFFFFF"/>
          </a:solidFill>
          <a:ln w="9525">
            <a:solidFill>
              <a:srgbClr val="D8E6DE"/>
            </a:solidFill>
            <a:prstDash val="solid"/>
          </a:ln>
        </p:spPr>
      </p:sp>
      <p:sp>
        <p:nvSpPr>
          <p:cNvPr id="35" name="Text 33"/>
          <p:cNvSpPr/>
          <p:nvPr/>
        </p:nvSpPr>
        <p:spPr>
          <a:xfrm>
            <a:off x="8613648" y="3383280"/>
            <a:ext cx="2889504" cy="640080"/>
          </a:xfrm>
          <a:prstGeom prst="rect">
            <a:avLst/>
          </a:prstGeom>
          <a:noFill/>
          <a:ln/>
        </p:spPr>
        <p:txBody>
          <a:bodyPr wrap="square" rtlCol="0" anchor="ctr"/>
          <a:lstStyle/>
          <a:p>
            <a:pPr marL="0" indent="0">
              <a:buNone/>
            </a:pPr>
            <a:r>
              <a:rPr lang="en-US" sz="1150" dirty="0">
                <a:solidFill>
                  <a:srgbClr val="1B4332"/>
                </a:solidFill>
                <a:latin typeface="Calibri" pitchFamily="34" charset="0"/>
                <a:ea typeface="Calibri" pitchFamily="34" charset="-122"/>
                <a:cs typeface="Calibri" pitchFamily="34" charset="-120"/>
              </a:rPr>
              <a:t>Source-separation + rewards built in</a:t>
            </a:r>
            <a:endParaRPr lang="en-US" sz="1150" dirty="0"/>
          </a:p>
        </p:txBody>
      </p:sp>
      <p:sp>
        <p:nvSpPr>
          <p:cNvPr id="36" name="Shape 34"/>
          <p:cNvSpPr/>
          <p:nvPr/>
        </p:nvSpPr>
        <p:spPr>
          <a:xfrm>
            <a:off x="548640" y="4023360"/>
            <a:ext cx="1828800" cy="777240"/>
          </a:xfrm>
          <a:prstGeom prst="rect">
            <a:avLst/>
          </a:prstGeom>
          <a:solidFill>
            <a:srgbClr val="E8F3EC"/>
          </a:solidFill>
          <a:ln w="9525">
            <a:solidFill>
              <a:srgbClr val="D8E6DE"/>
            </a:solidFill>
            <a:prstDash val="solid"/>
          </a:ln>
        </p:spPr>
      </p:sp>
      <p:sp>
        <p:nvSpPr>
          <p:cNvPr id="37" name="Text 35"/>
          <p:cNvSpPr/>
          <p:nvPr/>
        </p:nvSpPr>
        <p:spPr>
          <a:xfrm>
            <a:off x="658368" y="4023360"/>
            <a:ext cx="1609344" cy="777240"/>
          </a:xfrm>
          <a:prstGeom prst="rect">
            <a:avLst/>
          </a:prstGeom>
          <a:noFill/>
          <a:ln/>
        </p:spPr>
        <p:txBody>
          <a:bodyPr wrap="square" rtlCol="0" anchor="ctr"/>
          <a:lstStyle/>
          <a:p>
            <a:pPr marL="0" indent="0">
              <a:buNone/>
            </a:pPr>
            <a:r>
              <a:rPr lang="en-US" sz="1200" b="1" dirty="0">
                <a:solidFill>
                  <a:srgbClr val="1A1A1A"/>
                </a:solidFill>
                <a:latin typeface="Calibri" pitchFamily="34" charset="0"/>
                <a:ea typeface="Calibri" pitchFamily="34" charset="-122"/>
                <a:cs typeface="Calibri" pitchFamily="34" charset="-120"/>
              </a:rPr>
              <a:t>Scale</a:t>
            </a:r>
            <a:endParaRPr lang="en-US" sz="1200" dirty="0"/>
          </a:p>
        </p:txBody>
      </p:sp>
      <p:sp>
        <p:nvSpPr>
          <p:cNvPr id="38" name="Shape 36"/>
          <p:cNvSpPr/>
          <p:nvPr/>
        </p:nvSpPr>
        <p:spPr>
          <a:xfrm>
            <a:off x="2377440" y="4023360"/>
            <a:ext cx="3063240" cy="777240"/>
          </a:xfrm>
          <a:prstGeom prst="rect">
            <a:avLst/>
          </a:prstGeom>
          <a:solidFill>
            <a:srgbClr val="E8F3EC"/>
          </a:solidFill>
          <a:ln w="9525">
            <a:solidFill>
              <a:srgbClr val="D8E6DE"/>
            </a:solidFill>
            <a:prstDash val="solid"/>
          </a:ln>
        </p:spPr>
      </p:sp>
      <p:sp>
        <p:nvSpPr>
          <p:cNvPr id="39" name="Text 37"/>
          <p:cNvSpPr/>
          <p:nvPr/>
        </p:nvSpPr>
        <p:spPr>
          <a:xfrm>
            <a:off x="2487168" y="4023360"/>
            <a:ext cx="2843784" cy="777240"/>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Large, government-linked, entrenched nationally</a:t>
            </a:r>
            <a:endParaRPr lang="en-US" sz="1150" dirty="0"/>
          </a:p>
        </p:txBody>
      </p:sp>
      <p:sp>
        <p:nvSpPr>
          <p:cNvPr id="40" name="Shape 38"/>
          <p:cNvSpPr/>
          <p:nvPr/>
        </p:nvSpPr>
        <p:spPr>
          <a:xfrm>
            <a:off x="5440680" y="4023360"/>
            <a:ext cx="3063240" cy="777240"/>
          </a:xfrm>
          <a:prstGeom prst="rect">
            <a:avLst/>
          </a:prstGeom>
          <a:solidFill>
            <a:srgbClr val="E8F3EC"/>
          </a:solidFill>
          <a:ln w="9525">
            <a:solidFill>
              <a:srgbClr val="D8E6DE"/>
            </a:solidFill>
            <a:prstDash val="solid"/>
          </a:ln>
        </p:spPr>
      </p:sp>
      <p:sp>
        <p:nvSpPr>
          <p:cNvPr id="41" name="Text 39"/>
          <p:cNvSpPr/>
          <p:nvPr/>
        </p:nvSpPr>
        <p:spPr>
          <a:xfrm>
            <a:off x="5550408" y="4023360"/>
            <a:ext cx="2843784" cy="777240"/>
          </a:xfrm>
          <a:prstGeom prst="rect">
            <a:avLst/>
          </a:prstGeom>
          <a:noFill/>
          <a:ln/>
        </p:spPr>
        <p:txBody>
          <a:bodyPr wrap="square" rtlCol="0" anchor="ctr"/>
          <a:lstStyle/>
          <a:p>
            <a:pPr marL="0" indent="0">
              <a:buNone/>
            </a:pPr>
            <a:r>
              <a:rPr lang="en-US" sz="1150" dirty="0">
                <a:solidFill>
                  <a:srgbClr val="1A1A1A"/>
                </a:solidFill>
                <a:latin typeface="Calibri" pitchFamily="34" charset="0"/>
                <a:ea typeface="Calibri" pitchFamily="34" charset="-122"/>
                <a:cs typeface="Calibri" pitchFamily="34" charset="-120"/>
              </a:rPr>
              <a:t>Very small, hyper-local</a:t>
            </a:r>
            <a:endParaRPr lang="en-US" sz="1150" dirty="0"/>
          </a:p>
        </p:txBody>
      </p:sp>
      <p:sp>
        <p:nvSpPr>
          <p:cNvPr id="42" name="Shape 40"/>
          <p:cNvSpPr/>
          <p:nvPr/>
        </p:nvSpPr>
        <p:spPr>
          <a:xfrm>
            <a:off x="8503920" y="4023360"/>
            <a:ext cx="3108960" cy="777240"/>
          </a:xfrm>
          <a:prstGeom prst="rect">
            <a:avLst/>
          </a:prstGeom>
          <a:solidFill>
            <a:srgbClr val="E8F3EC"/>
          </a:solidFill>
          <a:ln w="9525">
            <a:solidFill>
              <a:srgbClr val="D8E6DE"/>
            </a:solidFill>
            <a:prstDash val="solid"/>
          </a:ln>
        </p:spPr>
      </p:sp>
      <p:sp>
        <p:nvSpPr>
          <p:cNvPr id="43" name="Text 41"/>
          <p:cNvSpPr/>
          <p:nvPr/>
        </p:nvSpPr>
        <p:spPr>
          <a:xfrm>
            <a:off x="8613648" y="4023360"/>
            <a:ext cx="2889504" cy="777240"/>
          </a:xfrm>
          <a:prstGeom prst="rect">
            <a:avLst/>
          </a:prstGeom>
          <a:noFill/>
          <a:ln/>
        </p:spPr>
        <p:txBody>
          <a:bodyPr wrap="square" rtlCol="0" anchor="ctr"/>
          <a:lstStyle/>
          <a:p>
            <a:pPr marL="0" indent="0">
              <a:buNone/>
            </a:pPr>
            <a:r>
              <a:rPr lang="en-US" sz="1150" dirty="0">
                <a:solidFill>
                  <a:srgbClr val="1B4332"/>
                </a:solidFill>
                <a:latin typeface="Calibri" pitchFamily="34" charset="0"/>
                <a:ea typeface="Calibri" pitchFamily="34" charset="-122"/>
                <a:cs typeface="Calibri" pitchFamily="34" charset="-120"/>
              </a:rPr>
              <a:t>Deliberately small &amp; focused at launch</a:t>
            </a:r>
            <a:endParaRPr lang="en-US" sz="1150" dirty="0"/>
          </a:p>
        </p:txBody>
      </p:sp>
      <p:sp>
        <p:nvSpPr>
          <p:cNvPr id="44" name="Text 42"/>
          <p:cNvSpPr/>
          <p:nvPr/>
        </p:nvSpPr>
        <p:spPr>
          <a:xfrm>
            <a:off x="11430000" y="6446520"/>
            <a:ext cx="548640" cy="320040"/>
          </a:xfrm>
          <a:prstGeom prst="rect">
            <a:avLst/>
          </a:prstGeom>
          <a:noFill/>
          <a:ln/>
        </p:spPr>
        <p:txBody>
          <a:bodyPr wrap="square" rtlCol="0" anchor="ctr"/>
          <a:lstStyle/>
          <a:p>
            <a:pPr marL="0" indent="0" algn="r">
              <a:buNone/>
            </a:pPr>
            <a:r>
              <a:rPr lang="en-US" sz="1000" dirty="0">
                <a:solidFill>
                  <a:srgbClr val="5B6B63"/>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2D6A4F"/>
                </a:solidFill>
                <a:latin typeface="Calibri" pitchFamily="34" charset="0"/>
                <a:ea typeface="Calibri" pitchFamily="34" charset="-122"/>
                <a:cs typeface="Calibri" pitchFamily="34" charset="-120"/>
              </a:rPr>
              <a:t>THE COMPETITIVE ENVIRONMENT</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How easily could others copy us?</a:t>
            </a:r>
            <a:endParaRPr lang="en-US" sz="3200" dirty="0"/>
          </a:p>
        </p:txBody>
      </p:sp>
      <p:sp>
        <p:nvSpPr>
          <p:cNvPr id="4" name="Shape 2"/>
          <p:cNvSpPr/>
          <p:nvPr/>
        </p:nvSpPr>
        <p:spPr>
          <a:xfrm>
            <a:off x="548640" y="1554480"/>
            <a:ext cx="5257800" cy="4434840"/>
          </a:xfrm>
          <a:prstGeom prst="roundRect">
            <a:avLst>
              <a:gd name="adj" fmla="val 1649"/>
            </a:avLst>
          </a:prstGeom>
          <a:solidFill>
            <a:srgbClr val="E8F3EC"/>
          </a:solidFill>
          <a:ln/>
        </p:spPr>
      </p:sp>
      <p:sp>
        <p:nvSpPr>
          <p:cNvPr id="5" name="Text 3"/>
          <p:cNvSpPr/>
          <p:nvPr/>
        </p:nvSpPr>
        <p:spPr>
          <a:xfrm>
            <a:off x="868680" y="1783080"/>
            <a:ext cx="4572000" cy="320040"/>
          </a:xfrm>
          <a:prstGeom prst="rect">
            <a:avLst/>
          </a:prstGeom>
          <a:noFill/>
          <a:ln/>
        </p:spPr>
        <p:txBody>
          <a:bodyPr wrap="square" rtlCol="0" anchor="ctr"/>
          <a:lstStyle/>
          <a:p>
            <a:pPr marL="0" indent="0">
              <a:buNone/>
            </a:pPr>
            <a:r>
              <a:rPr lang="en-US" sz="1200" b="1" kern="0" spc="200" dirty="0">
                <a:solidFill>
                  <a:srgbClr val="2D6A4F"/>
                </a:solidFill>
                <a:latin typeface="Calibri" pitchFamily="34" charset="0"/>
                <a:ea typeface="Calibri" pitchFamily="34" charset="-122"/>
                <a:cs typeface="Calibri" pitchFamily="34" charset="-120"/>
              </a:rPr>
              <a:t>EASY TO COPY</a:t>
            </a:r>
            <a:endParaRPr lang="en-US" sz="1200" dirty="0"/>
          </a:p>
        </p:txBody>
      </p:sp>
      <p:sp>
        <p:nvSpPr>
          <p:cNvPr id="6" name="Text 4"/>
          <p:cNvSpPr/>
          <p:nvPr/>
        </p:nvSpPr>
        <p:spPr>
          <a:xfrm>
            <a:off x="868680" y="2194560"/>
            <a:ext cx="4617720" cy="1371600"/>
          </a:xfrm>
          <a:prstGeom prst="rect">
            <a:avLst/>
          </a:prstGeom>
          <a:noFill/>
          <a:ln/>
        </p:spPr>
        <p:txBody>
          <a:bodyPr wrap="square" rtlCol="0" anchor="t"/>
          <a:lstStyle/>
          <a:p>
            <a:pPr marL="0" indent="0">
              <a:buNone/>
            </a:pPr>
            <a:r>
              <a:rPr lang="en-US" sz="1350" dirty="0">
                <a:solidFill>
                  <a:srgbClr val="1A1A1A"/>
                </a:solidFill>
                <a:latin typeface="Calibri" pitchFamily="34" charset="0"/>
                <a:ea typeface="Calibri" pitchFamily="34" charset="-122"/>
                <a:cs typeface="Calibri" pitchFamily="34" charset="-120"/>
              </a:rPr>
              <a:t>At small scale, a basic pickup-for-hire service is easy to replicate — tricycles and word-of-mouth require little capital. The pickup itself is not the moat.</a:t>
            </a:r>
            <a:endParaRPr lang="en-US" sz="1350" dirty="0"/>
          </a:p>
        </p:txBody>
      </p:sp>
      <p:sp>
        <p:nvSpPr>
          <p:cNvPr id="7" name="Shape 5"/>
          <p:cNvSpPr/>
          <p:nvPr/>
        </p:nvSpPr>
        <p:spPr>
          <a:xfrm>
            <a:off x="868680" y="3611880"/>
            <a:ext cx="4617720" cy="18288"/>
          </a:xfrm>
          <a:prstGeom prst="rect">
            <a:avLst/>
          </a:prstGeom>
          <a:solidFill>
            <a:srgbClr val="2D6A4F"/>
          </a:solidFill>
          <a:ln/>
        </p:spPr>
      </p:sp>
      <p:sp>
        <p:nvSpPr>
          <p:cNvPr id="8" name="Text 6"/>
          <p:cNvSpPr/>
          <p:nvPr/>
        </p:nvSpPr>
        <p:spPr>
          <a:xfrm>
            <a:off x="868680" y="3794760"/>
            <a:ext cx="4617720" cy="2011680"/>
          </a:xfrm>
          <a:prstGeom prst="rect">
            <a:avLst/>
          </a:prstGeom>
          <a:noFill/>
          <a:ln/>
        </p:spPr>
        <p:txBody>
          <a:bodyPr wrap="square" rtlCol="0" anchor="t"/>
          <a:lstStyle/>
          <a:p>
            <a:pPr marL="0" indent="0">
              <a:buNone/>
            </a:pPr>
            <a:r>
              <a:rPr lang="en-US" sz="1300" dirty="0">
                <a:solidFill>
                  <a:srgbClr val="5B6B63"/>
                </a:solidFill>
                <a:latin typeface="Calibri" pitchFamily="34" charset="0"/>
                <a:ea typeface="Calibri" pitchFamily="34" charset="-122"/>
                <a:cs typeface="Calibri" pitchFamily="34" charset="-120"/>
              </a:rPr>
              <a:t>Zoomlion's scale, government contracts and political relationships make it very hard to challenge on citywide public sanitation — but that is a different market from ours, so it is not a direct barrier to our niche.</a:t>
            </a:r>
            <a:endParaRPr lang="en-US" sz="1300" dirty="0"/>
          </a:p>
        </p:txBody>
      </p:sp>
      <p:sp>
        <p:nvSpPr>
          <p:cNvPr id="9" name="Shape 7"/>
          <p:cNvSpPr/>
          <p:nvPr/>
        </p:nvSpPr>
        <p:spPr>
          <a:xfrm>
            <a:off x="6172200" y="1554480"/>
            <a:ext cx="5440680" cy="4434840"/>
          </a:xfrm>
          <a:prstGeom prst="roundRect">
            <a:avLst>
              <a:gd name="adj" fmla="val 1649"/>
            </a:avLst>
          </a:prstGeom>
          <a:solidFill>
            <a:srgbClr val="1B4332"/>
          </a:solidFill>
          <a:ln/>
        </p:spPr>
      </p:sp>
      <p:sp>
        <p:nvSpPr>
          <p:cNvPr id="10" name="Text 8"/>
          <p:cNvSpPr/>
          <p:nvPr/>
        </p:nvSpPr>
        <p:spPr>
          <a:xfrm>
            <a:off x="6492240" y="1783080"/>
            <a:ext cx="4846320" cy="320040"/>
          </a:xfrm>
          <a:prstGeom prst="rect">
            <a:avLst/>
          </a:prstGeom>
          <a:noFill/>
          <a:ln/>
        </p:spPr>
        <p:txBody>
          <a:bodyPr wrap="square" rtlCol="0" anchor="ctr"/>
          <a:lstStyle/>
          <a:p>
            <a:pPr marL="0" indent="0">
              <a:buNone/>
            </a:pPr>
            <a:r>
              <a:rPr lang="en-US" sz="1200" b="1" kern="0" spc="200" dirty="0">
                <a:solidFill>
                  <a:srgbClr val="F59E0B"/>
                </a:solidFill>
                <a:latin typeface="Calibri" pitchFamily="34" charset="0"/>
                <a:ea typeface="Calibri" pitchFamily="34" charset="-122"/>
                <a:cs typeface="Calibri" pitchFamily="34" charset="-120"/>
              </a:rPr>
              <a:t>HARD TO COPY — OUR MOAT</a:t>
            </a:r>
            <a:endParaRPr lang="en-US" sz="1200" dirty="0"/>
          </a:p>
        </p:txBody>
      </p:sp>
      <p:sp>
        <p:nvSpPr>
          <p:cNvPr id="11" name="Shape 9"/>
          <p:cNvSpPr/>
          <p:nvPr/>
        </p:nvSpPr>
        <p:spPr>
          <a:xfrm>
            <a:off x="6492240" y="2258568"/>
            <a:ext cx="109728" cy="109728"/>
          </a:xfrm>
          <a:prstGeom prst="ellipse">
            <a:avLst/>
          </a:prstGeom>
          <a:solidFill>
            <a:srgbClr val="F59E0B"/>
          </a:solidFill>
          <a:ln/>
        </p:spPr>
      </p:sp>
      <p:sp>
        <p:nvSpPr>
          <p:cNvPr id="12" name="Text 10"/>
          <p:cNvSpPr/>
          <p:nvPr/>
        </p:nvSpPr>
        <p:spPr>
          <a:xfrm>
            <a:off x="6766560" y="2084832"/>
            <a:ext cx="4754880" cy="68580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App-based scheduling, tracking and rewards wallet — real product to build and maintain</a:t>
            </a:r>
            <a:endParaRPr lang="en-US" sz="1300" dirty="0"/>
          </a:p>
        </p:txBody>
      </p:sp>
      <p:sp>
        <p:nvSpPr>
          <p:cNvPr id="13" name="Shape 11"/>
          <p:cNvSpPr/>
          <p:nvPr/>
        </p:nvSpPr>
        <p:spPr>
          <a:xfrm>
            <a:off x="6492240" y="3035808"/>
            <a:ext cx="109728" cy="109728"/>
          </a:xfrm>
          <a:prstGeom prst="ellipse">
            <a:avLst/>
          </a:prstGeom>
          <a:solidFill>
            <a:srgbClr val="F59E0B"/>
          </a:solidFill>
          <a:ln/>
        </p:spPr>
      </p:sp>
      <p:sp>
        <p:nvSpPr>
          <p:cNvPr id="14" name="Text 12"/>
          <p:cNvSpPr/>
          <p:nvPr/>
        </p:nvSpPr>
        <p:spPr>
          <a:xfrm>
            <a:off x="6766560" y="2862072"/>
            <a:ext cx="4754880" cy="68580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Partnerships with schools and estate management committees, built on trust over time</a:t>
            </a:r>
            <a:endParaRPr lang="en-US" sz="1300" dirty="0"/>
          </a:p>
        </p:txBody>
      </p:sp>
      <p:sp>
        <p:nvSpPr>
          <p:cNvPr id="15" name="Shape 13"/>
          <p:cNvSpPr/>
          <p:nvPr/>
        </p:nvSpPr>
        <p:spPr>
          <a:xfrm>
            <a:off x="6492240" y="3813048"/>
            <a:ext cx="109728" cy="109728"/>
          </a:xfrm>
          <a:prstGeom prst="ellipse">
            <a:avLst/>
          </a:prstGeom>
          <a:solidFill>
            <a:srgbClr val="F59E0B"/>
          </a:solidFill>
          <a:ln/>
        </p:spPr>
      </p:sp>
      <p:sp>
        <p:nvSpPr>
          <p:cNvPr id="16" name="Text 14"/>
          <p:cNvSpPr/>
          <p:nvPr/>
        </p:nvSpPr>
        <p:spPr>
          <a:xfrm>
            <a:off x="6766560" y="3639312"/>
            <a:ext cx="4754880" cy="68580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Relationships with recyclers/processors to reliably monetize sorted waste</a:t>
            </a:r>
            <a:endParaRPr lang="en-US" sz="1300" dirty="0"/>
          </a:p>
        </p:txBody>
      </p:sp>
      <p:sp>
        <p:nvSpPr>
          <p:cNvPr id="17" name="Shape 15"/>
          <p:cNvSpPr/>
          <p:nvPr/>
        </p:nvSpPr>
        <p:spPr>
          <a:xfrm>
            <a:off x="6492240" y="4590288"/>
            <a:ext cx="109728" cy="109728"/>
          </a:xfrm>
          <a:prstGeom prst="ellipse">
            <a:avLst/>
          </a:prstGeom>
          <a:solidFill>
            <a:srgbClr val="F59E0B"/>
          </a:solidFill>
          <a:ln/>
        </p:spPr>
      </p:sp>
      <p:sp>
        <p:nvSpPr>
          <p:cNvPr id="18" name="Text 16"/>
          <p:cNvSpPr/>
          <p:nvPr/>
        </p:nvSpPr>
        <p:spPr>
          <a:xfrm>
            <a:off x="6766560" y="4416552"/>
            <a:ext cx="4754880" cy="68580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Customer loyalty from accumulated reward points (switching cost)</a:t>
            </a:r>
            <a:endParaRPr lang="en-US" sz="1300" dirty="0"/>
          </a:p>
        </p:txBody>
      </p:sp>
      <p:sp>
        <p:nvSpPr>
          <p:cNvPr id="19" name="Text 17"/>
          <p:cNvSpPr/>
          <p:nvPr/>
        </p:nvSpPr>
        <p:spPr>
          <a:xfrm>
            <a:off x="11430000" y="6446520"/>
            <a:ext cx="548640" cy="320040"/>
          </a:xfrm>
          <a:prstGeom prst="rect">
            <a:avLst/>
          </a:prstGeom>
          <a:noFill/>
          <a:ln/>
        </p:spPr>
        <p:txBody>
          <a:bodyPr wrap="square" rtlCol="0" anchor="ctr"/>
          <a:lstStyle/>
          <a:p>
            <a:pPr marL="0" indent="0" algn="r">
              <a:buNone/>
            </a:pPr>
            <a:r>
              <a:rPr lang="en-US" sz="1000" dirty="0">
                <a:solidFill>
                  <a:srgbClr val="5B6B63"/>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2D6A4F"/>
                </a:solidFill>
                <a:latin typeface="Calibri" pitchFamily="34" charset="0"/>
                <a:ea typeface="Calibri" pitchFamily="34" charset="-122"/>
                <a:cs typeface="Calibri" pitchFamily="34" charset="-120"/>
              </a:rPr>
              <a:t>BUSINESS MODEL</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How EcoBin Ghana creates &amp; delivers value</a:t>
            </a:r>
            <a:endParaRPr lang="en-US" sz="3200" dirty="0"/>
          </a:p>
        </p:txBody>
      </p:sp>
      <p:sp>
        <p:nvSpPr>
          <p:cNvPr id="4" name="Shape 2"/>
          <p:cNvSpPr/>
          <p:nvPr/>
        </p:nvSpPr>
        <p:spPr>
          <a:xfrm>
            <a:off x="548640" y="1600200"/>
            <a:ext cx="3429000" cy="3063240"/>
          </a:xfrm>
          <a:prstGeom prst="roundRect">
            <a:avLst>
              <a:gd name="adj" fmla="val 2388"/>
            </a:avLst>
          </a:prstGeom>
          <a:solidFill>
            <a:srgbClr val="E8F3EC"/>
          </a:solidFill>
          <a:ln/>
        </p:spPr>
      </p:sp>
      <p:sp>
        <p:nvSpPr>
          <p:cNvPr id="5" name="Shape 3"/>
          <p:cNvSpPr/>
          <p:nvPr/>
        </p:nvSpPr>
        <p:spPr>
          <a:xfrm>
            <a:off x="822960" y="1920240"/>
            <a:ext cx="731520" cy="731520"/>
          </a:xfrm>
          <a:prstGeom prst="ellipse">
            <a:avLst/>
          </a:prstGeom>
          <a:solidFill>
            <a:srgbClr val="1B4332"/>
          </a:solidFill>
          <a:ln/>
        </p:spPr>
      </p:sp>
      <p:pic>
        <p:nvPicPr>
          <p:cNvPr id="6" name="Image 0" descr="/home/claude/work/icons/handshake_FFFFFF.png"/>
          <p:cNvPicPr>
            <a:picLocks noChangeAspect="1"/>
          </p:cNvPicPr>
          <p:nvPr/>
        </p:nvPicPr>
        <p:blipFill>
          <a:blip r:embed="rId3"/>
          <a:stretch>
            <a:fillRect/>
          </a:stretch>
        </p:blipFill>
        <p:spPr>
          <a:xfrm>
            <a:off x="1013155" y="2110435"/>
            <a:ext cx="351130" cy="351130"/>
          </a:xfrm>
          <a:prstGeom prst="rect">
            <a:avLst/>
          </a:prstGeom>
        </p:spPr>
      </p:pic>
      <p:sp>
        <p:nvSpPr>
          <p:cNvPr id="7" name="Text 4"/>
          <p:cNvSpPr/>
          <p:nvPr/>
        </p:nvSpPr>
        <p:spPr>
          <a:xfrm>
            <a:off x="822960" y="2834640"/>
            <a:ext cx="2880360" cy="50292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Asset-light operations</a:t>
            </a:r>
            <a:endParaRPr lang="en-US" sz="1600" dirty="0"/>
          </a:p>
        </p:txBody>
      </p:sp>
      <p:sp>
        <p:nvSpPr>
          <p:cNvPr id="8" name="Text 5"/>
          <p:cNvSpPr/>
          <p:nvPr/>
        </p:nvSpPr>
        <p:spPr>
          <a:xfrm>
            <a:off x="822960" y="3337560"/>
            <a:ext cx="2880360" cy="1234440"/>
          </a:xfrm>
          <a:prstGeom prst="rect">
            <a:avLst/>
          </a:prstGeom>
          <a:noFill/>
          <a:ln/>
        </p:spPr>
        <p:txBody>
          <a:bodyPr wrap="square" rtlCol="0" anchor="t"/>
          <a:lstStyle/>
          <a:p>
            <a:pPr marL="0" indent="0">
              <a:buNone/>
            </a:pPr>
            <a:r>
              <a:rPr lang="en-US" sz="1250" dirty="0">
                <a:solidFill>
                  <a:srgbClr val="1A1A1A"/>
                </a:solidFill>
                <a:latin typeface="Calibri" pitchFamily="34" charset="0"/>
                <a:ea typeface="Calibri" pitchFamily="34" charset="-122"/>
                <a:cs typeface="Calibri" pitchFamily="34" charset="-120"/>
              </a:rPr>
              <a:t>Partner with existing local collectors as contracted pickup agents instead of owning a large fleet from day one.</a:t>
            </a:r>
            <a:endParaRPr lang="en-US" sz="1250" dirty="0"/>
          </a:p>
        </p:txBody>
      </p:sp>
      <p:sp>
        <p:nvSpPr>
          <p:cNvPr id="9" name="Shape 6"/>
          <p:cNvSpPr/>
          <p:nvPr/>
        </p:nvSpPr>
        <p:spPr>
          <a:xfrm>
            <a:off x="4297680" y="1600200"/>
            <a:ext cx="3429000" cy="3063240"/>
          </a:xfrm>
          <a:prstGeom prst="roundRect">
            <a:avLst>
              <a:gd name="adj" fmla="val 2388"/>
            </a:avLst>
          </a:prstGeom>
          <a:solidFill>
            <a:srgbClr val="E8F3EC"/>
          </a:solidFill>
          <a:ln/>
        </p:spPr>
      </p:sp>
      <p:sp>
        <p:nvSpPr>
          <p:cNvPr id="10" name="Shape 7"/>
          <p:cNvSpPr/>
          <p:nvPr/>
        </p:nvSpPr>
        <p:spPr>
          <a:xfrm>
            <a:off x="4572000" y="1920240"/>
            <a:ext cx="731520" cy="731520"/>
          </a:xfrm>
          <a:prstGeom prst="ellipse">
            <a:avLst/>
          </a:prstGeom>
          <a:solidFill>
            <a:srgbClr val="1B4332"/>
          </a:solidFill>
          <a:ln/>
        </p:spPr>
      </p:sp>
      <p:pic>
        <p:nvPicPr>
          <p:cNvPr id="11" name="Image 1" descr="/home/claude/work/icons/mobile_FFFFFF.png"/>
          <p:cNvPicPr>
            <a:picLocks noChangeAspect="1"/>
          </p:cNvPicPr>
          <p:nvPr/>
        </p:nvPicPr>
        <p:blipFill>
          <a:blip r:embed="rId4"/>
          <a:stretch>
            <a:fillRect/>
          </a:stretch>
        </p:blipFill>
        <p:spPr>
          <a:xfrm>
            <a:off x="4762195" y="2110435"/>
            <a:ext cx="351130" cy="351130"/>
          </a:xfrm>
          <a:prstGeom prst="rect">
            <a:avLst/>
          </a:prstGeom>
        </p:spPr>
      </p:pic>
      <p:sp>
        <p:nvSpPr>
          <p:cNvPr id="12" name="Text 8"/>
          <p:cNvSpPr/>
          <p:nvPr/>
        </p:nvSpPr>
        <p:spPr>
          <a:xfrm>
            <a:off x="4572000" y="2834640"/>
            <a:ext cx="2880360" cy="50292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App as the hub</a:t>
            </a:r>
            <a:endParaRPr lang="en-US" sz="1600" dirty="0"/>
          </a:p>
        </p:txBody>
      </p:sp>
      <p:sp>
        <p:nvSpPr>
          <p:cNvPr id="13" name="Text 9"/>
          <p:cNvSpPr/>
          <p:nvPr/>
        </p:nvSpPr>
        <p:spPr>
          <a:xfrm>
            <a:off x="4572000" y="3337560"/>
            <a:ext cx="2880360" cy="1234440"/>
          </a:xfrm>
          <a:prstGeom prst="rect">
            <a:avLst/>
          </a:prstGeom>
          <a:noFill/>
          <a:ln/>
        </p:spPr>
        <p:txBody>
          <a:bodyPr wrap="square" rtlCol="0" anchor="t"/>
          <a:lstStyle/>
          <a:p>
            <a:pPr marL="0" indent="0">
              <a:buNone/>
            </a:pPr>
            <a:r>
              <a:rPr lang="en-US" sz="1250" dirty="0">
                <a:solidFill>
                  <a:srgbClr val="1A1A1A"/>
                </a:solidFill>
                <a:latin typeface="Calibri" pitchFamily="34" charset="0"/>
                <a:ea typeface="Calibri" pitchFamily="34" charset="-122"/>
                <a:cs typeface="Calibri" pitchFamily="34" charset="-120"/>
              </a:rPr>
              <a:t>Centralized dispatch, scheduling, tracking and rewards wallet — the single system that ties every stakeholder together.</a:t>
            </a:r>
            <a:endParaRPr lang="en-US" sz="1250" dirty="0"/>
          </a:p>
        </p:txBody>
      </p:sp>
      <p:sp>
        <p:nvSpPr>
          <p:cNvPr id="14" name="Shape 10"/>
          <p:cNvSpPr/>
          <p:nvPr/>
        </p:nvSpPr>
        <p:spPr>
          <a:xfrm>
            <a:off x="8046720" y="1600200"/>
            <a:ext cx="3429000" cy="3063240"/>
          </a:xfrm>
          <a:prstGeom prst="roundRect">
            <a:avLst>
              <a:gd name="adj" fmla="val 2388"/>
            </a:avLst>
          </a:prstGeom>
          <a:solidFill>
            <a:srgbClr val="E8F3EC"/>
          </a:solidFill>
          <a:ln/>
        </p:spPr>
      </p:sp>
      <p:sp>
        <p:nvSpPr>
          <p:cNvPr id="15" name="Shape 11"/>
          <p:cNvSpPr/>
          <p:nvPr/>
        </p:nvSpPr>
        <p:spPr>
          <a:xfrm>
            <a:off x="8321040" y="1920240"/>
            <a:ext cx="731520" cy="731520"/>
          </a:xfrm>
          <a:prstGeom prst="ellipse">
            <a:avLst/>
          </a:prstGeom>
          <a:solidFill>
            <a:srgbClr val="1B4332"/>
          </a:solidFill>
          <a:ln/>
        </p:spPr>
      </p:sp>
      <p:pic>
        <p:nvPicPr>
          <p:cNvPr id="16" name="Image 2" descr="/home/claude/work/icons/coins_FFFFFF.png"/>
          <p:cNvPicPr>
            <a:picLocks noChangeAspect="1"/>
          </p:cNvPicPr>
          <p:nvPr/>
        </p:nvPicPr>
        <p:blipFill>
          <a:blip r:embed="rId5"/>
          <a:stretch>
            <a:fillRect/>
          </a:stretch>
        </p:blipFill>
        <p:spPr>
          <a:xfrm>
            <a:off x="8511235" y="2110435"/>
            <a:ext cx="351130" cy="351130"/>
          </a:xfrm>
          <a:prstGeom prst="rect">
            <a:avLst/>
          </a:prstGeom>
        </p:spPr>
      </p:pic>
      <p:sp>
        <p:nvSpPr>
          <p:cNvPr id="17" name="Text 12"/>
          <p:cNvSpPr/>
          <p:nvPr/>
        </p:nvSpPr>
        <p:spPr>
          <a:xfrm>
            <a:off x="8321040" y="2834640"/>
            <a:ext cx="2880360" cy="50292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Three revenue lines</a:t>
            </a:r>
            <a:endParaRPr lang="en-US" sz="1600" dirty="0"/>
          </a:p>
        </p:txBody>
      </p:sp>
      <p:sp>
        <p:nvSpPr>
          <p:cNvPr id="18" name="Text 13"/>
          <p:cNvSpPr/>
          <p:nvPr/>
        </p:nvSpPr>
        <p:spPr>
          <a:xfrm>
            <a:off x="8321040" y="3337560"/>
            <a:ext cx="2880360" cy="1234440"/>
          </a:xfrm>
          <a:prstGeom prst="rect">
            <a:avLst/>
          </a:prstGeom>
          <a:noFill/>
          <a:ln/>
        </p:spPr>
        <p:txBody>
          <a:bodyPr wrap="square" rtlCol="0" anchor="t"/>
          <a:lstStyle/>
          <a:p>
            <a:pPr marL="0" indent="0">
              <a:buNone/>
            </a:pPr>
            <a:r>
              <a:rPr lang="en-US" sz="1250" dirty="0">
                <a:solidFill>
                  <a:srgbClr val="1A1A1A"/>
                </a:solidFill>
                <a:latin typeface="Calibri" pitchFamily="34" charset="0"/>
                <a:ea typeface="Calibri" pitchFamily="34" charset="-122"/>
                <a:cs typeface="Calibri" pitchFamily="34" charset="-120"/>
              </a:rPr>
              <a:t>Subscription fees, sale of sorted recyclables to processors, and sponsorships from reward-partner brands.</a:t>
            </a:r>
            <a:endParaRPr lang="en-US" sz="1250" dirty="0"/>
          </a:p>
        </p:txBody>
      </p:sp>
      <p:sp>
        <p:nvSpPr>
          <p:cNvPr id="19" name="Shape 14"/>
          <p:cNvSpPr/>
          <p:nvPr/>
        </p:nvSpPr>
        <p:spPr>
          <a:xfrm>
            <a:off x="548640" y="4892040"/>
            <a:ext cx="11064240" cy="1188720"/>
          </a:xfrm>
          <a:prstGeom prst="roundRect">
            <a:avLst>
              <a:gd name="adj" fmla="val 6154"/>
            </a:avLst>
          </a:prstGeom>
          <a:solidFill>
            <a:srgbClr val="1B4332"/>
          </a:solidFill>
          <a:ln/>
        </p:spPr>
      </p:sp>
      <p:sp>
        <p:nvSpPr>
          <p:cNvPr id="20" name="Text 15"/>
          <p:cNvSpPr/>
          <p:nvPr/>
        </p:nvSpPr>
        <p:spPr>
          <a:xfrm>
            <a:off x="868680" y="5074920"/>
            <a:ext cx="10424160" cy="868680"/>
          </a:xfrm>
          <a:prstGeom prst="rect">
            <a:avLst/>
          </a:prstGeom>
          <a:noFill/>
          <a:ln/>
        </p:spPr>
        <p:txBody>
          <a:bodyPr wrap="square" rtlCol="0" anchor="t"/>
          <a:lstStyle/>
          <a:p>
            <a:pPr marL="0" indent="0">
              <a:buNone/>
            </a:pPr>
            <a:r>
              <a:rPr lang="en-US" sz="1350" dirty="0">
                <a:solidFill>
                  <a:srgbClr val="FFFFFF"/>
                </a:solidFill>
                <a:latin typeface="Calibri" pitchFamily="34" charset="0"/>
                <a:ea typeface="Calibri" pitchFamily="34" charset="-122"/>
                <a:cs typeface="Calibri" pitchFamily="34" charset="-120"/>
              </a:rPr>
              <a:t>Organized for efficiency: a lean core team runs the app and partnerships; contracted collectors handle pickups on a per-route basis, keeping fixed costs low while the subscriber base is still growing.</a:t>
            </a:r>
            <a:endParaRPr lang="en-US" sz="1350" dirty="0"/>
          </a:p>
        </p:txBody>
      </p:sp>
      <p:sp>
        <p:nvSpPr>
          <p:cNvPr id="21" name="Text 16"/>
          <p:cNvSpPr/>
          <p:nvPr/>
        </p:nvSpPr>
        <p:spPr>
          <a:xfrm>
            <a:off x="11430000" y="6446520"/>
            <a:ext cx="548640" cy="320040"/>
          </a:xfrm>
          <a:prstGeom prst="rect">
            <a:avLst/>
          </a:prstGeom>
          <a:noFill/>
          <a:ln/>
        </p:spPr>
        <p:txBody>
          <a:bodyPr wrap="square" rtlCol="0" anchor="ctr"/>
          <a:lstStyle/>
          <a:p>
            <a:pPr marL="0" indent="0" algn="r">
              <a:buNone/>
            </a:pPr>
            <a:r>
              <a:rPr lang="en-US" sz="1000" dirty="0">
                <a:solidFill>
                  <a:srgbClr val="5B6B63"/>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2D6A4F"/>
                </a:solidFill>
                <a:latin typeface="Calibri" pitchFamily="34" charset="0"/>
                <a:ea typeface="Calibri" pitchFamily="34" charset="-122"/>
                <a:cs typeface="Calibri" pitchFamily="34" charset="-120"/>
              </a:rPr>
              <a:t>BUSINESS STRATEGY</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Three strategies driving launch</a:t>
            </a:r>
            <a:endParaRPr lang="en-US" sz="3200" dirty="0"/>
          </a:p>
        </p:txBody>
      </p:sp>
      <p:sp>
        <p:nvSpPr>
          <p:cNvPr id="4" name="Shape 2"/>
          <p:cNvSpPr/>
          <p:nvPr/>
        </p:nvSpPr>
        <p:spPr>
          <a:xfrm>
            <a:off x="548640" y="1600200"/>
            <a:ext cx="3429000" cy="4206240"/>
          </a:xfrm>
          <a:prstGeom prst="roundRect">
            <a:avLst>
              <a:gd name="adj" fmla="val 2133"/>
            </a:avLst>
          </a:prstGeom>
          <a:solidFill>
            <a:srgbClr val="E8F3EC"/>
          </a:solidFill>
          <a:ln/>
        </p:spPr>
      </p:sp>
      <p:sp>
        <p:nvSpPr>
          <p:cNvPr id="5" name="Shape 3"/>
          <p:cNvSpPr/>
          <p:nvPr/>
        </p:nvSpPr>
        <p:spPr>
          <a:xfrm>
            <a:off x="822960" y="1920240"/>
            <a:ext cx="731520" cy="731520"/>
          </a:xfrm>
          <a:prstGeom prst="ellipse">
            <a:avLst/>
          </a:prstGeom>
          <a:solidFill>
            <a:srgbClr val="1B4332"/>
          </a:solidFill>
          <a:ln/>
        </p:spPr>
      </p:sp>
      <p:pic>
        <p:nvPicPr>
          <p:cNvPr id="6" name="Image 0" descr="/home/claude/work/icons/truck_FFFFFF.png"/>
          <p:cNvPicPr>
            <a:picLocks noChangeAspect="1"/>
          </p:cNvPicPr>
          <p:nvPr/>
        </p:nvPicPr>
        <p:blipFill>
          <a:blip r:embed="rId3"/>
          <a:stretch>
            <a:fillRect/>
          </a:stretch>
        </p:blipFill>
        <p:spPr>
          <a:xfrm>
            <a:off x="1013155" y="2110435"/>
            <a:ext cx="351130" cy="351130"/>
          </a:xfrm>
          <a:prstGeom prst="rect">
            <a:avLst/>
          </a:prstGeom>
        </p:spPr>
      </p:pic>
      <p:sp>
        <p:nvSpPr>
          <p:cNvPr id="7" name="Text 4"/>
          <p:cNvSpPr/>
          <p:nvPr/>
        </p:nvSpPr>
        <p:spPr>
          <a:xfrm>
            <a:off x="822960" y="2880360"/>
            <a:ext cx="2880360" cy="68580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Production / Operations</a:t>
            </a:r>
            <a:endParaRPr lang="en-US" sz="1600" dirty="0"/>
          </a:p>
        </p:txBody>
      </p:sp>
      <p:sp>
        <p:nvSpPr>
          <p:cNvPr id="8" name="Text 5"/>
          <p:cNvSpPr/>
          <p:nvPr/>
        </p:nvSpPr>
        <p:spPr>
          <a:xfrm>
            <a:off x="822960" y="3611880"/>
            <a:ext cx="2880360" cy="1920240"/>
          </a:xfrm>
          <a:prstGeom prst="rect">
            <a:avLst/>
          </a:prstGeom>
          <a:noFill/>
          <a:ln/>
        </p:spPr>
        <p:txBody>
          <a:bodyPr wrap="square" rtlCol="0" anchor="t"/>
          <a:lstStyle/>
          <a:p>
            <a:pPr marL="0" indent="0">
              <a:buNone/>
            </a:pPr>
            <a:r>
              <a:rPr lang="en-US" sz="1250" dirty="0">
                <a:solidFill>
                  <a:srgbClr val="1A1A1A"/>
                </a:solidFill>
                <a:latin typeface="Calibri" pitchFamily="34" charset="0"/>
                <a:ea typeface="Calibri" pitchFamily="34" charset="-122"/>
                <a:cs typeface="Calibri" pitchFamily="34" charset="-120"/>
              </a:rPr>
              <a:t>Launch asset-light: contract existing local collectors as pickup agents; app handles routing and scheduling centrally.</a:t>
            </a:r>
            <a:endParaRPr lang="en-US" sz="1250" dirty="0"/>
          </a:p>
        </p:txBody>
      </p:sp>
      <p:sp>
        <p:nvSpPr>
          <p:cNvPr id="9" name="Shape 6"/>
          <p:cNvSpPr/>
          <p:nvPr/>
        </p:nvSpPr>
        <p:spPr>
          <a:xfrm>
            <a:off x="4297680" y="1600200"/>
            <a:ext cx="3429000" cy="4206240"/>
          </a:xfrm>
          <a:prstGeom prst="roundRect">
            <a:avLst>
              <a:gd name="adj" fmla="val 2133"/>
            </a:avLst>
          </a:prstGeom>
          <a:solidFill>
            <a:srgbClr val="1B4332"/>
          </a:solidFill>
          <a:ln/>
        </p:spPr>
      </p:sp>
      <p:sp>
        <p:nvSpPr>
          <p:cNvPr id="10" name="Shape 7"/>
          <p:cNvSpPr/>
          <p:nvPr/>
        </p:nvSpPr>
        <p:spPr>
          <a:xfrm>
            <a:off x="4572000" y="1920240"/>
            <a:ext cx="731520" cy="731520"/>
          </a:xfrm>
          <a:prstGeom prst="ellipse">
            <a:avLst/>
          </a:prstGeom>
          <a:solidFill>
            <a:srgbClr val="F59E0B"/>
          </a:solidFill>
          <a:ln/>
        </p:spPr>
      </p:sp>
      <p:pic>
        <p:nvPicPr>
          <p:cNvPr id="11" name="Image 1" descr="/home/claude/work/icons/bell_1B4332.png"/>
          <p:cNvPicPr>
            <a:picLocks noChangeAspect="1"/>
          </p:cNvPicPr>
          <p:nvPr/>
        </p:nvPicPr>
        <p:blipFill>
          <a:blip r:embed="rId4"/>
          <a:stretch>
            <a:fillRect/>
          </a:stretch>
        </p:blipFill>
        <p:spPr>
          <a:xfrm>
            <a:off x="4762195" y="2110435"/>
            <a:ext cx="351130" cy="351130"/>
          </a:xfrm>
          <a:prstGeom prst="rect">
            <a:avLst/>
          </a:prstGeom>
        </p:spPr>
      </p:pic>
      <p:sp>
        <p:nvSpPr>
          <p:cNvPr id="12" name="Text 8"/>
          <p:cNvSpPr/>
          <p:nvPr/>
        </p:nvSpPr>
        <p:spPr>
          <a:xfrm>
            <a:off x="4572000" y="2880360"/>
            <a:ext cx="2880360" cy="685800"/>
          </a:xfrm>
          <a:prstGeom prst="rect">
            <a:avLst/>
          </a:prstGeom>
          <a:noFill/>
          <a:ln/>
        </p:spPr>
        <p:txBody>
          <a:bodyPr wrap="square"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Marketing</a:t>
            </a:r>
            <a:endParaRPr lang="en-US" sz="1600" dirty="0"/>
          </a:p>
        </p:txBody>
      </p:sp>
      <p:sp>
        <p:nvSpPr>
          <p:cNvPr id="13" name="Text 9"/>
          <p:cNvSpPr/>
          <p:nvPr/>
        </p:nvSpPr>
        <p:spPr>
          <a:xfrm>
            <a:off x="4572000" y="3611880"/>
            <a:ext cx="2880360" cy="1920240"/>
          </a:xfrm>
          <a:prstGeom prst="rect">
            <a:avLst/>
          </a:prstGeom>
          <a:noFill/>
          <a:ln/>
        </p:spPr>
        <p:txBody>
          <a:bodyPr wrap="square" rtlCol="0" anchor="t"/>
          <a:lstStyle/>
          <a:p>
            <a:pPr marL="0" indent="0">
              <a:buNone/>
            </a:pPr>
            <a:r>
              <a:rPr lang="en-US" sz="1250" dirty="0">
                <a:solidFill>
                  <a:srgbClr val="E8F3EC"/>
                </a:solidFill>
                <a:latin typeface="Calibri" pitchFamily="34" charset="0"/>
                <a:ea typeface="Calibri" pitchFamily="34" charset="-122"/>
                <a:cs typeface="Calibri" pitchFamily="34" charset="-120"/>
              </a:rPr>
              <a:t>Community-first launch — partner with 1–2 estates and schools first; grow via referral rewards and WhatsApp/social groups.</a:t>
            </a:r>
            <a:endParaRPr lang="en-US" sz="1250" dirty="0"/>
          </a:p>
        </p:txBody>
      </p:sp>
      <p:sp>
        <p:nvSpPr>
          <p:cNvPr id="14" name="Shape 10"/>
          <p:cNvSpPr/>
          <p:nvPr/>
        </p:nvSpPr>
        <p:spPr>
          <a:xfrm>
            <a:off x="8046720" y="1600200"/>
            <a:ext cx="3429000" cy="4206240"/>
          </a:xfrm>
          <a:prstGeom prst="roundRect">
            <a:avLst>
              <a:gd name="adj" fmla="val 2133"/>
            </a:avLst>
          </a:prstGeom>
          <a:solidFill>
            <a:srgbClr val="E8F3EC"/>
          </a:solidFill>
          <a:ln/>
        </p:spPr>
      </p:sp>
      <p:sp>
        <p:nvSpPr>
          <p:cNvPr id="15" name="Shape 11"/>
          <p:cNvSpPr/>
          <p:nvPr/>
        </p:nvSpPr>
        <p:spPr>
          <a:xfrm>
            <a:off x="8321040" y="1920240"/>
            <a:ext cx="731520" cy="731520"/>
          </a:xfrm>
          <a:prstGeom prst="ellipse">
            <a:avLst/>
          </a:prstGeom>
          <a:solidFill>
            <a:srgbClr val="1B4332"/>
          </a:solidFill>
          <a:ln/>
        </p:spPr>
      </p:sp>
      <p:pic>
        <p:nvPicPr>
          <p:cNvPr id="16" name="Image 2" descr="/home/claude/work/icons/map_FFFFFF.png"/>
          <p:cNvPicPr>
            <a:picLocks noChangeAspect="1"/>
          </p:cNvPicPr>
          <p:nvPr/>
        </p:nvPicPr>
        <p:blipFill>
          <a:blip r:embed="rId5"/>
          <a:stretch>
            <a:fillRect/>
          </a:stretch>
        </p:blipFill>
        <p:spPr>
          <a:xfrm>
            <a:off x="8511235" y="2110435"/>
            <a:ext cx="351130" cy="351130"/>
          </a:xfrm>
          <a:prstGeom prst="rect">
            <a:avLst/>
          </a:prstGeom>
        </p:spPr>
      </p:pic>
      <p:sp>
        <p:nvSpPr>
          <p:cNvPr id="17" name="Text 12"/>
          <p:cNvSpPr/>
          <p:nvPr/>
        </p:nvSpPr>
        <p:spPr>
          <a:xfrm>
            <a:off x="8321040" y="2880360"/>
            <a:ext cx="2880360" cy="68580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Pricing, Promotion &amp; Distribution</a:t>
            </a:r>
            <a:endParaRPr lang="en-US" sz="1600" dirty="0"/>
          </a:p>
        </p:txBody>
      </p:sp>
      <p:sp>
        <p:nvSpPr>
          <p:cNvPr id="18" name="Text 13"/>
          <p:cNvSpPr/>
          <p:nvPr/>
        </p:nvSpPr>
        <p:spPr>
          <a:xfrm>
            <a:off x="8321040" y="3611880"/>
            <a:ext cx="2880360" cy="1920240"/>
          </a:xfrm>
          <a:prstGeom prst="rect">
            <a:avLst/>
          </a:prstGeom>
          <a:noFill/>
          <a:ln/>
        </p:spPr>
        <p:txBody>
          <a:bodyPr wrap="square" rtlCol="0" anchor="t"/>
          <a:lstStyle/>
          <a:p>
            <a:pPr marL="0" indent="0">
              <a:buNone/>
            </a:pPr>
            <a:r>
              <a:rPr lang="en-US" sz="1250" dirty="0">
                <a:solidFill>
                  <a:srgbClr val="1A1A1A"/>
                </a:solidFill>
                <a:latin typeface="Calibri" pitchFamily="34" charset="0"/>
                <a:ea typeface="Calibri" pitchFamily="34" charset="-122"/>
                <a:cs typeface="Calibri" pitchFamily="34" charset="-120"/>
              </a:rPr>
              <a:t>Tiered subscriptions (GHS 40–75), a free first recyclables drop-off to build habit, and rewards distributed in-app.</a:t>
            </a:r>
            <a:endParaRPr lang="en-US" sz="1250" dirty="0"/>
          </a:p>
        </p:txBody>
      </p:sp>
      <p:sp>
        <p:nvSpPr>
          <p:cNvPr id="19" name="Text 14"/>
          <p:cNvSpPr/>
          <p:nvPr/>
        </p:nvSpPr>
        <p:spPr>
          <a:xfrm>
            <a:off x="11430000" y="6446520"/>
            <a:ext cx="548640" cy="320040"/>
          </a:xfrm>
          <a:prstGeom prst="rect">
            <a:avLst/>
          </a:prstGeom>
          <a:noFill/>
          <a:ln/>
        </p:spPr>
        <p:txBody>
          <a:bodyPr wrap="square" rtlCol="0" anchor="ctr"/>
          <a:lstStyle/>
          <a:p>
            <a:pPr marL="0" indent="0" algn="r">
              <a:buNone/>
            </a:pPr>
            <a:r>
              <a:rPr lang="en-US" sz="1000" dirty="0">
                <a:solidFill>
                  <a:srgbClr val="5B6B63"/>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2D6A4F"/>
                </a:solidFill>
                <a:latin typeface="Calibri" pitchFamily="34" charset="0"/>
                <a:ea typeface="Calibri" pitchFamily="34" charset="-122"/>
                <a:cs typeface="Calibri" pitchFamily="34" charset="-120"/>
              </a:rPr>
              <a:t>BUSINESS STRATEGY</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Deploying our people to hit the ground running</a:t>
            </a:r>
            <a:endParaRPr lang="en-US" sz="3200" dirty="0"/>
          </a:p>
        </p:txBody>
      </p:sp>
      <p:sp>
        <p:nvSpPr>
          <p:cNvPr id="4" name="Shape 2"/>
          <p:cNvSpPr/>
          <p:nvPr/>
        </p:nvSpPr>
        <p:spPr>
          <a:xfrm>
            <a:off x="548640" y="1600200"/>
            <a:ext cx="640080" cy="640080"/>
          </a:xfrm>
          <a:prstGeom prst="ellipse">
            <a:avLst/>
          </a:prstGeom>
          <a:solidFill>
            <a:srgbClr val="E8F3EC"/>
          </a:solidFill>
          <a:ln/>
        </p:spPr>
      </p:sp>
      <p:pic>
        <p:nvPicPr>
          <p:cNvPr id="5" name="Image 0" descr="/home/claude/work/icons/users_1B4332.png"/>
          <p:cNvPicPr>
            <a:picLocks noChangeAspect="1"/>
          </p:cNvPicPr>
          <p:nvPr/>
        </p:nvPicPr>
        <p:blipFill>
          <a:blip r:embed="rId3"/>
          <a:stretch>
            <a:fillRect/>
          </a:stretch>
        </p:blipFill>
        <p:spPr>
          <a:xfrm>
            <a:off x="715061" y="1766621"/>
            <a:ext cx="307238" cy="307238"/>
          </a:xfrm>
          <a:prstGeom prst="rect">
            <a:avLst/>
          </a:prstGeom>
        </p:spPr>
      </p:pic>
      <p:sp>
        <p:nvSpPr>
          <p:cNvPr id="6" name="Text 3"/>
          <p:cNvSpPr/>
          <p:nvPr/>
        </p:nvSpPr>
        <p:spPr>
          <a:xfrm>
            <a:off x="1371600" y="1581912"/>
            <a:ext cx="3291840" cy="640080"/>
          </a:xfrm>
          <a:prstGeom prst="rect">
            <a:avLst/>
          </a:prstGeom>
          <a:noFill/>
          <a:ln/>
        </p:spPr>
        <p:txBody>
          <a:bodyPr wrap="square" rtlCol="0" anchor="ctr"/>
          <a:lstStyle/>
          <a:p>
            <a:pPr marL="0" indent="0">
              <a:buNone/>
            </a:pPr>
            <a:r>
              <a:rPr lang="en-US" sz="1450" b="1" dirty="0">
                <a:solidFill>
                  <a:srgbClr val="1B4332"/>
                </a:solidFill>
                <a:latin typeface="Calibri" pitchFamily="34" charset="0"/>
                <a:ea typeface="Calibri" pitchFamily="34" charset="-122"/>
                <a:cs typeface="Calibri" pitchFamily="34" charset="-120"/>
              </a:rPr>
              <a:t>Founding team (2–3)</a:t>
            </a:r>
            <a:endParaRPr lang="en-US" sz="1450" dirty="0"/>
          </a:p>
        </p:txBody>
      </p:sp>
      <p:sp>
        <p:nvSpPr>
          <p:cNvPr id="7" name="Text 4"/>
          <p:cNvSpPr/>
          <p:nvPr/>
        </p:nvSpPr>
        <p:spPr>
          <a:xfrm>
            <a:off x="4800600" y="1581912"/>
            <a:ext cx="6583680" cy="64008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App/product oversight, finance, partnerships — worn as multiple hats at launch.</a:t>
            </a:r>
            <a:endParaRPr lang="en-US" sz="1300" dirty="0"/>
          </a:p>
        </p:txBody>
      </p:sp>
      <p:sp>
        <p:nvSpPr>
          <p:cNvPr id="8" name="Shape 5"/>
          <p:cNvSpPr/>
          <p:nvPr/>
        </p:nvSpPr>
        <p:spPr>
          <a:xfrm>
            <a:off x="548640" y="2514600"/>
            <a:ext cx="640080" cy="640080"/>
          </a:xfrm>
          <a:prstGeom prst="ellipse">
            <a:avLst/>
          </a:prstGeom>
          <a:solidFill>
            <a:srgbClr val="E8F3EC"/>
          </a:solidFill>
          <a:ln/>
        </p:spPr>
      </p:sp>
      <p:pic>
        <p:nvPicPr>
          <p:cNvPr id="9" name="Image 1" descr="/home/claude/work/icons/truck_1B4332.png"/>
          <p:cNvPicPr>
            <a:picLocks noChangeAspect="1"/>
          </p:cNvPicPr>
          <p:nvPr/>
        </p:nvPicPr>
        <p:blipFill>
          <a:blip r:embed="rId4"/>
          <a:stretch>
            <a:fillRect/>
          </a:stretch>
        </p:blipFill>
        <p:spPr>
          <a:xfrm>
            <a:off x="715061" y="2681021"/>
            <a:ext cx="307238" cy="307238"/>
          </a:xfrm>
          <a:prstGeom prst="rect">
            <a:avLst/>
          </a:prstGeom>
        </p:spPr>
      </p:pic>
      <p:sp>
        <p:nvSpPr>
          <p:cNvPr id="10" name="Text 6"/>
          <p:cNvSpPr/>
          <p:nvPr/>
        </p:nvSpPr>
        <p:spPr>
          <a:xfrm>
            <a:off x="1371600" y="2496312"/>
            <a:ext cx="3291840" cy="640080"/>
          </a:xfrm>
          <a:prstGeom prst="rect">
            <a:avLst/>
          </a:prstGeom>
          <a:noFill/>
          <a:ln/>
        </p:spPr>
        <p:txBody>
          <a:bodyPr wrap="square" rtlCol="0" anchor="ctr"/>
          <a:lstStyle/>
          <a:p>
            <a:pPr marL="0" indent="0">
              <a:buNone/>
            </a:pPr>
            <a:r>
              <a:rPr lang="en-US" sz="1450" b="1" dirty="0">
                <a:solidFill>
                  <a:srgbClr val="1B4332"/>
                </a:solidFill>
                <a:latin typeface="Calibri" pitchFamily="34" charset="0"/>
                <a:ea typeface="Calibri" pitchFamily="34" charset="-122"/>
                <a:cs typeface="Calibri" pitchFamily="34" charset="-120"/>
              </a:rPr>
              <a:t>Contracted pickup agents</a:t>
            </a:r>
            <a:endParaRPr lang="en-US" sz="1450" dirty="0"/>
          </a:p>
        </p:txBody>
      </p:sp>
      <p:sp>
        <p:nvSpPr>
          <p:cNvPr id="11" name="Text 7"/>
          <p:cNvSpPr/>
          <p:nvPr/>
        </p:nvSpPr>
        <p:spPr>
          <a:xfrm>
            <a:off x="4800600" y="2496312"/>
            <a:ext cx="6583680" cy="64008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Paid per route, scaled up with subscriber growth — no large fleet ownership needed.</a:t>
            </a:r>
            <a:endParaRPr lang="en-US" sz="1300" dirty="0"/>
          </a:p>
        </p:txBody>
      </p:sp>
      <p:sp>
        <p:nvSpPr>
          <p:cNvPr id="12" name="Shape 8"/>
          <p:cNvSpPr/>
          <p:nvPr/>
        </p:nvSpPr>
        <p:spPr>
          <a:xfrm>
            <a:off x="548640" y="3429000"/>
            <a:ext cx="640080" cy="640080"/>
          </a:xfrm>
          <a:prstGeom prst="ellipse">
            <a:avLst/>
          </a:prstGeom>
          <a:solidFill>
            <a:srgbClr val="E8F3EC"/>
          </a:solidFill>
          <a:ln/>
        </p:spPr>
      </p:sp>
      <p:pic>
        <p:nvPicPr>
          <p:cNvPr id="13" name="Image 2" descr="/home/claude/work/icons/handshake_1B4332.png"/>
          <p:cNvPicPr>
            <a:picLocks noChangeAspect="1"/>
          </p:cNvPicPr>
          <p:nvPr/>
        </p:nvPicPr>
        <p:blipFill>
          <a:blip r:embed="rId5"/>
          <a:stretch>
            <a:fillRect/>
          </a:stretch>
        </p:blipFill>
        <p:spPr>
          <a:xfrm>
            <a:off x="715061" y="3595421"/>
            <a:ext cx="307238" cy="307238"/>
          </a:xfrm>
          <a:prstGeom prst="rect">
            <a:avLst/>
          </a:prstGeom>
        </p:spPr>
      </p:pic>
      <p:sp>
        <p:nvSpPr>
          <p:cNvPr id="14" name="Text 9"/>
          <p:cNvSpPr/>
          <p:nvPr/>
        </p:nvSpPr>
        <p:spPr>
          <a:xfrm>
            <a:off x="1371600" y="3410712"/>
            <a:ext cx="3291840" cy="640080"/>
          </a:xfrm>
          <a:prstGeom prst="rect">
            <a:avLst/>
          </a:prstGeom>
          <a:noFill/>
          <a:ln/>
        </p:spPr>
        <p:txBody>
          <a:bodyPr wrap="square" rtlCol="0" anchor="ctr"/>
          <a:lstStyle/>
          <a:p>
            <a:pPr marL="0" indent="0">
              <a:buNone/>
            </a:pPr>
            <a:r>
              <a:rPr lang="en-US" sz="1450" b="1" dirty="0">
                <a:solidFill>
                  <a:srgbClr val="1B4332"/>
                </a:solidFill>
                <a:latin typeface="Calibri" pitchFamily="34" charset="0"/>
                <a:ea typeface="Calibri" pitchFamily="34" charset="-122"/>
                <a:cs typeface="Calibri" pitchFamily="34" charset="-120"/>
              </a:rPr>
              <a:t>Partnerships coordinator</a:t>
            </a:r>
            <a:endParaRPr lang="en-US" sz="1450" dirty="0"/>
          </a:p>
        </p:txBody>
      </p:sp>
      <p:sp>
        <p:nvSpPr>
          <p:cNvPr id="15" name="Text 10"/>
          <p:cNvSpPr/>
          <p:nvPr/>
        </p:nvSpPr>
        <p:spPr>
          <a:xfrm>
            <a:off x="4800600" y="3410712"/>
            <a:ext cx="6583680" cy="64008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Builds relationships with estates, schools and recycling processors.</a:t>
            </a:r>
            <a:endParaRPr lang="en-US" sz="1300" dirty="0"/>
          </a:p>
        </p:txBody>
      </p:sp>
      <p:sp>
        <p:nvSpPr>
          <p:cNvPr id="16" name="Shape 11"/>
          <p:cNvSpPr/>
          <p:nvPr/>
        </p:nvSpPr>
        <p:spPr>
          <a:xfrm>
            <a:off x="548640" y="4343400"/>
            <a:ext cx="640080" cy="640080"/>
          </a:xfrm>
          <a:prstGeom prst="ellipse">
            <a:avLst/>
          </a:prstGeom>
          <a:solidFill>
            <a:srgbClr val="E8F3EC"/>
          </a:solidFill>
          <a:ln/>
        </p:spPr>
      </p:sp>
      <p:pic>
        <p:nvPicPr>
          <p:cNvPr id="17" name="Image 3" descr="/home/claude/work/icons/bell_1B4332.png"/>
          <p:cNvPicPr>
            <a:picLocks noChangeAspect="1"/>
          </p:cNvPicPr>
          <p:nvPr/>
        </p:nvPicPr>
        <p:blipFill>
          <a:blip r:embed="rId6"/>
          <a:stretch>
            <a:fillRect/>
          </a:stretch>
        </p:blipFill>
        <p:spPr>
          <a:xfrm>
            <a:off x="715061" y="4509821"/>
            <a:ext cx="307238" cy="307238"/>
          </a:xfrm>
          <a:prstGeom prst="rect">
            <a:avLst/>
          </a:prstGeom>
        </p:spPr>
      </p:pic>
      <p:sp>
        <p:nvSpPr>
          <p:cNvPr id="18" name="Text 12"/>
          <p:cNvSpPr/>
          <p:nvPr/>
        </p:nvSpPr>
        <p:spPr>
          <a:xfrm>
            <a:off x="1371600" y="4325112"/>
            <a:ext cx="3291840" cy="640080"/>
          </a:xfrm>
          <a:prstGeom prst="rect">
            <a:avLst/>
          </a:prstGeom>
          <a:noFill/>
          <a:ln/>
        </p:spPr>
        <p:txBody>
          <a:bodyPr wrap="square" rtlCol="0" anchor="ctr"/>
          <a:lstStyle/>
          <a:p>
            <a:pPr marL="0" indent="0">
              <a:buNone/>
            </a:pPr>
            <a:r>
              <a:rPr lang="en-US" sz="1450" b="1" dirty="0">
                <a:solidFill>
                  <a:srgbClr val="1B4332"/>
                </a:solidFill>
                <a:latin typeface="Calibri" pitchFamily="34" charset="0"/>
                <a:ea typeface="Calibri" pitchFamily="34" charset="-122"/>
                <a:cs typeface="Calibri" pitchFamily="34" charset="-120"/>
              </a:rPr>
              <a:t>Customer support (part-time)</a:t>
            </a:r>
            <a:endParaRPr lang="en-US" sz="1450" dirty="0"/>
          </a:p>
        </p:txBody>
      </p:sp>
      <p:sp>
        <p:nvSpPr>
          <p:cNvPr id="19" name="Text 13"/>
          <p:cNvSpPr/>
          <p:nvPr/>
        </p:nvSpPr>
        <p:spPr>
          <a:xfrm>
            <a:off x="4800600" y="4325112"/>
            <a:ext cx="6583680" cy="64008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Handles bookings, complaints and reward redemptions via the app.</a:t>
            </a:r>
            <a:endParaRPr lang="en-US" sz="1300" dirty="0"/>
          </a:p>
        </p:txBody>
      </p:sp>
      <p:sp>
        <p:nvSpPr>
          <p:cNvPr id="20" name="Text 14"/>
          <p:cNvSpPr/>
          <p:nvPr/>
        </p:nvSpPr>
        <p:spPr>
          <a:xfrm>
            <a:off x="548640" y="5394960"/>
            <a:ext cx="11064240" cy="640080"/>
          </a:xfrm>
          <a:prstGeom prst="rect">
            <a:avLst/>
          </a:prstGeom>
          <a:noFill/>
          <a:ln/>
        </p:spPr>
        <p:txBody>
          <a:bodyPr wrap="square" rtlCol="0" anchor="ctr"/>
          <a:lstStyle/>
          <a:p>
            <a:pPr marL="0" indent="0">
              <a:buNone/>
            </a:pPr>
            <a:r>
              <a:rPr lang="en-US" sz="1300" i="1" dirty="0">
                <a:solidFill>
                  <a:srgbClr val="5B6B63"/>
                </a:solidFill>
                <a:latin typeface="Calibri" pitchFamily="34" charset="0"/>
                <a:ea typeface="Calibri" pitchFamily="34" charset="-122"/>
                <a:cs typeface="Calibri" pitchFamily="34" charset="-120"/>
              </a:rPr>
              <a:t>Approach: stay lean and gig-based early on, converting the busiest routes and roles into full-time hires only once subscriber revenue justifies fixed payroll.</a:t>
            </a:r>
            <a:endParaRPr lang="en-US" sz="1300" dirty="0"/>
          </a:p>
        </p:txBody>
      </p:sp>
      <p:sp>
        <p:nvSpPr>
          <p:cNvPr id="21" name="Text 15"/>
          <p:cNvSpPr/>
          <p:nvPr/>
        </p:nvSpPr>
        <p:spPr>
          <a:xfrm>
            <a:off x="11430000" y="6446520"/>
            <a:ext cx="548640" cy="320040"/>
          </a:xfrm>
          <a:prstGeom prst="rect">
            <a:avLst/>
          </a:prstGeom>
          <a:noFill/>
          <a:ln/>
        </p:spPr>
        <p:txBody>
          <a:bodyPr wrap="square" rtlCol="0" anchor="ctr"/>
          <a:lstStyle/>
          <a:p>
            <a:pPr marL="0" indent="0" algn="r">
              <a:buNone/>
            </a:pPr>
            <a:r>
              <a:rPr lang="en-US" sz="1000" dirty="0">
                <a:solidFill>
                  <a:srgbClr val="5B6B63"/>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2D6A4F"/>
                </a:solidFill>
                <a:latin typeface="Calibri" pitchFamily="34" charset="0"/>
                <a:ea typeface="Calibri" pitchFamily="34" charset="-122"/>
                <a:cs typeface="Calibri" pitchFamily="34" charset="-120"/>
              </a:rPr>
              <a:t>FINANCES</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What it costs to get started</a:t>
            </a:r>
            <a:endParaRPr lang="en-US" sz="3200" dirty="0"/>
          </a:p>
        </p:txBody>
      </p:sp>
      <p:sp>
        <p:nvSpPr>
          <p:cNvPr id="4" name="Shape 2"/>
          <p:cNvSpPr/>
          <p:nvPr/>
        </p:nvSpPr>
        <p:spPr>
          <a:xfrm>
            <a:off x="548640" y="1691640"/>
            <a:ext cx="6675120" cy="566928"/>
          </a:xfrm>
          <a:prstGeom prst="rect">
            <a:avLst/>
          </a:prstGeom>
          <a:solidFill>
            <a:srgbClr val="E8F3EC"/>
          </a:solidFill>
          <a:ln/>
        </p:spPr>
      </p:sp>
      <p:sp>
        <p:nvSpPr>
          <p:cNvPr id="5" name="Text 3"/>
          <p:cNvSpPr/>
          <p:nvPr/>
        </p:nvSpPr>
        <p:spPr>
          <a:xfrm>
            <a:off x="777240" y="1691640"/>
            <a:ext cx="4663440" cy="56692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App development &amp; maintenance</a:t>
            </a:r>
            <a:endParaRPr lang="en-US" sz="1300" dirty="0"/>
          </a:p>
        </p:txBody>
      </p:sp>
      <p:sp>
        <p:nvSpPr>
          <p:cNvPr id="6" name="Text 4"/>
          <p:cNvSpPr/>
          <p:nvPr/>
        </p:nvSpPr>
        <p:spPr>
          <a:xfrm>
            <a:off x="5394960" y="1691640"/>
            <a:ext cx="1737360" cy="566928"/>
          </a:xfrm>
          <a:prstGeom prst="rect">
            <a:avLst/>
          </a:prstGeom>
          <a:noFill/>
          <a:ln/>
        </p:spPr>
        <p:txBody>
          <a:bodyPr wrap="square" rtlCol="0" anchor="ctr"/>
          <a:lstStyle/>
          <a:p>
            <a:pPr marL="0" indent="0" algn="r">
              <a:buNone/>
            </a:pPr>
            <a:r>
              <a:rPr lang="en-US" sz="1300" b="1" dirty="0">
                <a:solidFill>
                  <a:srgbClr val="1B4332"/>
                </a:solidFill>
                <a:latin typeface="Calibri" pitchFamily="34" charset="0"/>
                <a:ea typeface="Calibri" pitchFamily="34" charset="-122"/>
                <a:cs typeface="Calibri" pitchFamily="34" charset="-120"/>
              </a:rPr>
              <a:t>GHS 25,000</a:t>
            </a:r>
            <a:endParaRPr lang="en-US" sz="1300" dirty="0"/>
          </a:p>
        </p:txBody>
      </p:sp>
      <p:sp>
        <p:nvSpPr>
          <p:cNvPr id="7" name="Shape 5"/>
          <p:cNvSpPr/>
          <p:nvPr/>
        </p:nvSpPr>
        <p:spPr>
          <a:xfrm>
            <a:off x="548640" y="2258568"/>
            <a:ext cx="6675120" cy="566928"/>
          </a:xfrm>
          <a:prstGeom prst="rect">
            <a:avLst/>
          </a:prstGeom>
          <a:solidFill>
            <a:srgbClr val="FFFFFF"/>
          </a:solidFill>
          <a:ln/>
        </p:spPr>
      </p:sp>
      <p:sp>
        <p:nvSpPr>
          <p:cNvPr id="8" name="Text 6"/>
          <p:cNvSpPr/>
          <p:nvPr/>
        </p:nvSpPr>
        <p:spPr>
          <a:xfrm>
            <a:off x="777240" y="2258568"/>
            <a:ext cx="4663440" cy="56692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Branded bins, bags &amp; collector kits</a:t>
            </a:r>
            <a:endParaRPr lang="en-US" sz="1300" dirty="0"/>
          </a:p>
        </p:txBody>
      </p:sp>
      <p:sp>
        <p:nvSpPr>
          <p:cNvPr id="9" name="Text 7"/>
          <p:cNvSpPr/>
          <p:nvPr/>
        </p:nvSpPr>
        <p:spPr>
          <a:xfrm>
            <a:off x="5394960" y="2258568"/>
            <a:ext cx="1737360" cy="566928"/>
          </a:xfrm>
          <a:prstGeom prst="rect">
            <a:avLst/>
          </a:prstGeom>
          <a:noFill/>
          <a:ln/>
        </p:spPr>
        <p:txBody>
          <a:bodyPr wrap="square" rtlCol="0" anchor="ctr"/>
          <a:lstStyle/>
          <a:p>
            <a:pPr marL="0" indent="0" algn="r">
              <a:buNone/>
            </a:pPr>
            <a:r>
              <a:rPr lang="en-US" sz="1300" b="1" dirty="0">
                <a:solidFill>
                  <a:srgbClr val="1B4332"/>
                </a:solidFill>
                <a:latin typeface="Calibri" pitchFamily="34" charset="0"/>
                <a:ea typeface="Calibri" pitchFamily="34" charset="-122"/>
                <a:cs typeface="Calibri" pitchFamily="34" charset="-120"/>
              </a:rPr>
              <a:t>GHS 8,000</a:t>
            </a:r>
            <a:endParaRPr lang="en-US" sz="1300" dirty="0"/>
          </a:p>
        </p:txBody>
      </p:sp>
      <p:sp>
        <p:nvSpPr>
          <p:cNvPr id="10" name="Shape 8"/>
          <p:cNvSpPr/>
          <p:nvPr/>
        </p:nvSpPr>
        <p:spPr>
          <a:xfrm>
            <a:off x="548640" y="2825496"/>
            <a:ext cx="6675120" cy="566928"/>
          </a:xfrm>
          <a:prstGeom prst="rect">
            <a:avLst/>
          </a:prstGeom>
          <a:solidFill>
            <a:srgbClr val="E8F3EC"/>
          </a:solidFill>
          <a:ln/>
        </p:spPr>
      </p:sp>
      <p:sp>
        <p:nvSpPr>
          <p:cNvPr id="11" name="Text 9"/>
          <p:cNvSpPr/>
          <p:nvPr/>
        </p:nvSpPr>
        <p:spPr>
          <a:xfrm>
            <a:off x="777240" y="2825496"/>
            <a:ext cx="4663440" cy="56692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Launch marketing &amp; estate/school partnerships</a:t>
            </a:r>
            <a:endParaRPr lang="en-US" sz="1300" dirty="0"/>
          </a:p>
        </p:txBody>
      </p:sp>
      <p:sp>
        <p:nvSpPr>
          <p:cNvPr id="12" name="Text 10"/>
          <p:cNvSpPr/>
          <p:nvPr/>
        </p:nvSpPr>
        <p:spPr>
          <a:xfrm>
            <a:off x="5394960" y="2825496"/>
            <a:ext cx="1737360" cy="566928"/>
          </a:xfrm>
          <a:prstGeom prst="rect">
            <a:avLst/>
          </a:prstGeom>
          <a:noFill/>
          <a:ln/>
        </p:spPr>
        <p:txBody>
          <a:bodyPr wrap="square" rtlCol="0" anchor="ctr"/>
          <a:lstStyle/>
          <a:p>
            <a:pPr marL="0" indent="0" algn="r">
              <a:buNone/>
            </a:pPr>
            <a:r>
              <a:rPr lang="en-US" sz="1300" b="1" dirty="0">
                <a:solidFill>
                  <a:srgbClr val="1B4332"/>
                </a:solidFill>
                <a:latin typeface="Calibri" pitchFamily="34" charset="0"/>
                <a:ea typeface="Calibri" pitchFamily="34" charset="-122"/>
                <a:cs typeface="Calibri" pitchFamily="34" charset="-120"/>
              </a:rPr>
              <a:t>GHS 6,000</a:t>
            </a:r>
            <a:endParaRPr lang="en-US" sz="1300" dirty="0"/>
          </a:p>
        </p:txBody>
      </p:sp>
      <p:sp>
        <p:nvSpPr>
          <p:cNvPr id="13" name="Shape 11"/>
          <p:cNvSpPr/>
          <p:nvPr/>
        </p:nvSpPr>
        <p:spPr>
          <a:xfrm>
            <a:off x="548640" y="3392424"/>
            <a:ext cx="6675120" cy="566928"/>
          </a:xfrm>
          <a:prstGeom prst="rect">
            <a:avLst/>
          </a:prstGeom>
          <a:solidFill>
            <a:srgbClr val="FFFFFF"/>
          </a:solidFill>
          <a:ln/>
        </p:spPr>
      </p:sp>
      <p:sp>
        <p:nvSpPr>
          <p:cNvPr id="14" name="Text 12"/>
          <p:cNvSpPr/>
          <p:nvPr/>
        </p:nvSpPr>
        <p:spPr>
          <a:xfrm>
            <a:off x="777240" y="3392424"/>
            <a:ext cx="4663440" cy="56692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Working capital (first 3 months)</a:t>
            </a:r>
            <a:endParaRPr lang="en-US" sz="1300" dirty="0"/>
          </a:p>
        </p:txBody>
      </p:sp>
      <p:sp>
        <p:nvSpPr>
          <p:cNvPr id="15" name="Text 13"/>
          <p:cNvSpPr/>
          <p:nvPr/>
        </p:nvSpPr>
        <p:spPr>
          <a:xfrm>
            <a:off x="5394960" y="3392424"/>
            <a:ext cx="1737360" cy="566928"/>
          </a:xfrm>
          <a:prstGeom prst="rect">
            <a:avLst/>
          </a:prstGeom>
          <a:noFill/>
          <a:ln/>
        </p:spPr>
        <p:txBody>
          <a:bodyPr wrap="square" rtlCol="0" anchor="ctr"/>
          <a:lstStyle/>
          <a:p>
            <a:pPr marL="0" indent="0" algn="r">
              <a:buNone/>
            </a:pPr>
            <a:r>
              <a:rPr lang="en-US" sz="1300" b="1" dirty="0">
                <a:solidFill>
                  <a:srgbClr val="1B4332"/>
                </a:solidFill>
                <a:latin typeface="Calibri" pitchFamily="34" charset="0"/>
                <a:ea typeface="Calibri" pitchFamily="34" charset="-122"/>
                <a:cs typeface="Calibri" pitchFamily="34" charset="-120"/>
              </a:rPr>
              <a:t>GHS 15,000</a:t>
            </a:r>
            <a:endParaRPr lang="en-US" sz="1300" dirty="0"/>
          </a:p>
        </p:txBody>
      </p:sp>
      <p:sp>
        <p:nvSpPr>
          <p:cNvPr id="16" name="Shape 14"/>
          <p:cNvSpPr/>
          <p:nvPr/>
        </p:nvSpPr>
        <p:spPr>
          <a:xfrm>
            <a:off x="548640" y="3959352"/>
            <a:ext cx="6675120" cy="566928"/>
          </a:xfrm>
          <a:prstGeom prst="rect">
            <a:avLst/>
          </a:prstGeom>
          <a:solidFill>
            <a:srgbClr val="E8F3EC"/>
          </a:solidFill>
          <a:ln/>
        </p:spPr>
      </p:sp>
      <p:sp>
        <p:nvSpPr>
          <p:cNvPr id="17" name="Text 15"/>
          <p:cNvSpPr/>
          <p:nvPr/>
        </p:nvSpPr>
        <p:spPr>
          <a:xfrm>
            <a:off x="777240" y="3959352"/>
            <a:ext cx="4663440" cy="56692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Contingency</a:t>
            </a:r>
            <a:endParaRPr lang="en-US" sz="1300" dirty="0"/>
          </a:p>
        </p:txBody>
      </p:sp>
      <p:sp>
        <p:nvSpPr>
          <p:cNvPr id="18" name="Text 16"/>
          <p:cNvSpPr/>
          <p:nvPr/>
        </p:nvSpPr>
        <p:spPr>
          <a:xfrm>
            <a:off x="5394960" y="3959352"/>
            <a:ext cx="1737360" cy="566928"/>
          </a:xfrm>
          <a:prstGeom prst="rect">
            <a:avLst/>
          </a:prstGeom>
          <a:noFill/>
          <a:ln/>
        </p:spPr>
        <p:txBody>
          <a:bodyPr wrap="square" rtlCol="0" anchor="ctr"/>
          <a:lstStyle/>
          <a:p>
            <a:pPr marL="0" indent="0" algn="r">
              <a:buNone/>
            </a:pPr>
            <a:r>
              <a:rPr lang="en-US" sz="1300" b="1" dirty="0">
                <a:solidFill>
                  <a:srgbClr val="1B4332"/>
                </a:solidFill>
                <a:latin typeface="Calibri" pitchFamily="34" charset="0"/>
                <a:ea typeface="Calibri" pitchFamily="34" charset="-122"/>
                <a:cs typeface="Calibri" pitchFamily="34" charset="-120"/>
              </a:rPr>
              <a:t>GHS 5,000</a:t>
            </a:r>
            <a:endParaRPr lang="en-US" sz="1300" dirty="0"/>
          </a:p>
        </p:txBody>
      </p:sp>
      <p:sp>
        <p:nvSpPr>
          <p:cNvPr id="19" name="Shape 17"/>
          <p:cNvSpPr/>
          <p:nvPr/>
        </p:nvSpPr>
        <p:spPr>
          <a:xfrm>
            <a:off x="548640" y="4526280"/>
            <a:ext cx="6675120" cy="566928"/>
          </a:xfrm>
          <a:prstGeom prst="rect">
            <a:avLst/>
          </a:prstGeom>
          <a:solidFill>
            <a:srgbClr val="1B4332"/>
          </a:solidFill>
          <a:ln/>
        </p:spPr>
      </p:sp>
      <p:sp>
        <p:nvSpPr>
          <p:cNvPr id="20" name="Text 18"/>
          <p:cNvSpPr/>
          <p:nvPr/>
        </p:nvSpPr>
        <p:spPr>
          <a:xfrm>
            <a:off x="777240" y="4526280"/>
            <a:ext cx="4663440" cy="56692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Estimated minimum start-up capital</a:t>
            </a:r>
            <a:endParaRPr lang="en-US" sz="1350" dirty="0"/>
          </a:p>
        </p:txBody>
      </p:sp>
      <p:sp>
        <p:nvSpPr>
          <p:cNvPr id="21" name="Text 19"/>
          <p:cNvSpPr/>
          <p:nvPr/>
        </p:nvSpPr>
        <p:spPr>
          <a:xfrm>
            <a:off x="5394960" y="4526280"/>
            <a:ext cx="1737360" cy="566928"/>
          </a:xfrm>
          <a:prstGeom prst="rect">
            <a:avLst/>
          </a:prstGeom>
          <a:noFill/>
          <a:ln/>
        </p:spPr>
        <p:txBody>
          <a:bodyPr wrap="square" rtlCol="0" anchor="ctr"/>
          <a:lstStyle/>
          <a:p>
            <a:pPr marL="0" indent="0" algn="r">
              <a:buNone/>
            </a:pPr>
            <a:r>
              <a:rPr lang="en-US" sz="1400" b="1" dirty="0">
                <a:solidFill>
                  <a:srgbClr val="F59E0B"/>
                </a:solidFill>
                <a:latin typeface="Calibri" pitchFamily="34" charset="0"/>
                <a:ea typeface="Calibri" pitchFamily="34" charset="-122"/>
                <a:cs typeface="Calibri" pitchFamily="34" charset="-120"/>
              </a:rPr>
              <a:t>≈ GHS 59,000</a:t>
            </a:r>
            <a:endParaRPr lang="en-US" sz="1400" dirty="0"/>
          </a:p>
        </p:txBody>
      </p:sp>
      <p:sp>
        <p:nvSpPr>
          <p:cNvPr id="22" name="Shape 20"/>
          <p:cNvSpPr/>
          <p:nvPr/>
        </p:nvSpPr>
        <p:spPr>
          <a:xfrm>
            <a:off x="7543800" y="1691640"/>
            <a:ext cx="4069080" cy="3977640"/>
          </a:xfrm>
          <a:prstGeom prst="roundRect">
            <a:avLst>
              <a:gd name="adj" fmla="val 1839"/>
            </a:avLst>
          </a:prstGeom>
          <a:solidFill>
            <a:srgbClr val="E8F3EC"/>
          </a:solidFill>
          <a:ln/>
        </p:spPr>
      </p:sp>
      <p:sp>
        <p:nvSpPr>
          <p:cNvPr id="23" name="Text 21"/>
          <p:cNvSpPr/>
          <p:nvPr/>
        </p:nvSpPr>
        <p:spPr>
          <a:xfrm>
            <a:off x="7818120" y="1920240"/>
            <a:ext cx="3566160" cy="365760"/>
          </a:xfrm>
          <a:prstGeom prst="rect">
            <a:avLst/>
          </a:prstGeom>
          <a:noFill/>
          <a:ln/>
        </p:spPr>
        <p:txBody>
          <a:bodyPr wrap="square" rtlCol="0" anchor="ctr"/>
          <a:lstStyle/>
          <a:p>
            <a:pPr marL="0" indent="0">
              <a:buNone/>
            </a:pPr>
            <a:r>
              <a:rPr lang="en-US" sz="1150" b="1" kern="0" spc="150" dirty="0">
                <a:solidFill>
                  <a:srgbClr val="2D6A4F"/>
                </a:solidFill>
                <a:latin typeface="Calibri" pitchFamily="34" charset="0"/>
                <a:ea typeface="Calibri" pitchFamily="34" charset="-122"/>
                <a:cs typeface="Calibri" pitchFamily="34" charset="-120"/>
              </a:rPr>
              <a:t>KEEPING CAPITAL NEEDS LOW</a:t>
            </a:r>
            <a:endParaRPr lang="en-US" sz="1150" dirty="0"/>
          </a:p>
        </p:txBody>
      </p:sp>
      <p:sp>
        <p:nvSpPr>
          <p:cNvPr id="24" name="Text 22"/>
          <p:cNvSpPr/>
          <p:nvPr/>
        </p:nvSpPr>
        <p:spPr>
          <a:xfrm>
            <a:off x="7818120" y="2377440"/>
            <a:ext cx="3566160" cy="310896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Choosing contracted collectors over owned trucks — and piloting in one estate/school cluster before expanding — keeps the start-up ask realistic compared to a capital-heavy, fleet-owning competitor.</a:t>
            </a:r>
            <a:endParaRPr lang="en-US" sz="1300" dirty="0"/>
          </a:p>
        </p:txBody>
      </p:sp>
      <p:sp>
        <p:nvSpPr>
          <p:cNvPr id="25" name="Text 23"/>
          <p:cNvSpPr/>
          <p:nvPr/>
        </p:nvSpPr>
        <p:spPr>
          <a:xfrm>
            <a:off x="11430000" y="6446520"/>
            <a:ext cx="548640" cy="320040"/>
          </a:xfrm>
          <a:prstGeom prst="rect">
            <a:avLst/>
          </a:prstGeom>
          <a:noFill/>
          <a:ln/>
        </p:spPr>
        <p:txBody>
          <a:bodyPr wrap="square" rtlCol="0" anchor="ctr"/>
          <a:lstStyle/>
          <a:p>
            <a:pPr marL="0" indent="0" algn="r">
              <a:buNone/>
            </a:pPr>
            <a:r>
              <a:rPr lang="en-US" sz="1000" dirty="0">
                <a:solidFill>
                  <a:srgbClr val="5B6B63"/>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rtlCol="0" anchor="ctr"/>
          <a:lstStyle/>
          <a:p>
            <a:pPr marL="0" indent="0">
              <a:buNone/>
            </a:pPr>
            <a:r>
              <a:rPr lang="en-US" sz="1200" b="1" kern="0" spc="200" dirty="0">
                <a:solidFill>
                  <a:srgbClr val="2D6A4F"/>
                </a:solidFill>
                <a:latin typeface="Calibri" pitchFamily="34" charset="0"/>
                <a:ea typeface="Calibri" pitchFamily="34" charset="-122"/>
                <a:cs typeface="Calibri" pitchFamily="34" charset="-120"/>
              </a:rPr>
              <a:t>FINANCES</a:t>
            </a:r>
            <a:endParaRPr lang="en-US" sz="1200" dirty="0"/>
          </a:p>
        </p:txBody>
      </p:sp>
      <p:sp>
        <p:nvSpPr>
          <p:cNvPr id="3" name="Text 1"/>
          <p:cNvSpPr/>
          <p:nvPr/>
        </p:nvSpPr>
        <p:spPr>
          <a:xfrm>
            <a:off x="548640" y="621792"/>
            <a:ext cx="10789920" cy="640080"/>
          </a:xfrm>
          <a:prstGeom prst="rect">
            <a:avLst/>
          </a:prstGeom>
          <a:noFill/>
          <a:ln/>
        </p:spPr>
        <p:txBody>
          <a:bodyPr wrap="square" rtlCol="0" anchor="ctr"/>
          <a:lstStyle/>
          <a:p>
            <a:pPr marL="0" indent="0">
              <a:buNone/>
            </a:pPr>
            <a:r>
              <a:rPr lang="en-US" sz="3200" b="1" dirty="0">
                <a:solidFill>
                  <a:srgbClr val="1A1A1A"/>
                </a:solidFill>
                <a:latin typeface="Cambria" pitchFamily="34" charset="0"/>
                <a:ea typeface="Cambria" pitchFamily="34" charset="-122"/>
                <a:cs typeface="Cambria" pitchFamily="34" charset="-120"/>
              </a:rPr>
              <a:t>Income, expenses &amp; the road to profit</a:t>
            </a:r>
            <a:endParaRPr lang="en-US" sz="3200" dirty="0"/>
          </a:p>
        </p:txBody>
      </p:sp>
      <p:sp>
        <p:nvSpPr>
          <p:cNvPr id="4" name="Text 2"/>
          <p:cNvSpPr/>
          <p:nvPr/>
        </p:nvSpPr>
        <p:spPr>
          <a:xfrm>
            <a:off x="548640" y="1463040"/>
            <a:ext cx="5303520" cy="36576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Major income sources</a:t>
            </a:r>
            <a:endParaRPr lang="en-US" sz="1600" dirty="0"/>
          </a:p>
        </p:txBody>
      </p:sp>
      <p:sp>
        <p:nvSpPr>
          <p:cNvPr id="5" name="Shape 3"/>
          <p:cNvSpPr/>
          <p:nvPr/>
        </p:nvSpPr>
        <p:spPr>
          <a:xfrm>
            <a:off x="548640" y="2020824"/>
            <a:ext cx="109728" cy="109728"/>
          </a:xfrm>
          <a:prstGeom prst="ellipse">
            <a:avLst/>
          </a:prstGeom>
          <a:solidFill>
            <a:srgbClr val="F59E0B"/>
          </a:solidFill>
          <a:ln/>
        </p:spPr>
      </p:sp>
      <p:sp>
        <p:nvSpPr>
          <p:cNvPr id="6" name="Text 4"/>
          <p:cNvSpPr/>
          <p:nvPr/>
        </p:nvSpPr>
        <p:spPr>
          <a:xfrm>
            <a:off x="822960" y="1828800"/>
            <a:ext cx="5029200" cy="45720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Monthly subscription fees</a:t>
            </a:r>
            <a:endParaRPr lang="en-US" sz="1300" dirty="0"/>
          </a:p>
        </p:txBody>
      </p:sp>
      <p:sp>
        <p:nvSpPr>
          <p:cNvPr id="7" name="Shape 5"/>
          <p:cNvSpPr/>
          <p:nvPr/>
        </p:nvSpPr>
        <p:spPr>
          <a:xfrm>
            <a:off x="548640" y="2523744"/>
            <a:ext cx="109728" cy="109728"/>
          </a:xfrm>
          <a:prstGeom prst="ellipse">
            <a:avLst/>
          </a:prstGeom>
          <a:solidFill>
            <a:srgbClr val="F59E0B"/>
          </a:solidFill>
          <a:ln/>
        </p:spPr>
      </p:sp>
      <p:sp>
        <p:nvSpPr>
          <p:cNvPr id="8" name="Text 6"/>
          <p:cNvSpPr/>
          <p:nvPr/>
        </p:nvSpPr>
        <p:spPr>
          <a:xfrm>
            <a:off x="822960" y="2331720"/>
            <a:ext cx="5029200" cy="45720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Sale of sorted recyclables to processors</a:t>
            </a:r>
            <a:endParaRPr lang="en-US" sz="1300" dirty="0"/>
          </a:p>
        </p:txBody>
      </p:sp>
      <p:sp>
        <p:nvSpPr>
          <p:cNvPr id="9" name="Shape 7"/>
          <p:cNvSpPr/>
          <p:nvPr/>
        </p:nvSpPr>
        <p:spPr>
          <a:xfrm>
            <a:off x="548640" y="3026664"/>
            <a:ext cx="109728" cy="109728"/>
          </a:xfrm>
          <a:prstGeom prst="ellipse">
            <a:avLst/>
          </a:prstGeom>
          <a:solidFill>
            <a:srgbClr val="F59E0B"/>
          </a:solidFill>
          <a:ln/>
        </p:spPr>
      </p:sp>
      <p:sp>
        <p:nvSpPr>
          <p:cNvPr id="10" name="Text 8"/>
          <p:cNvSpPr/>
          <p:nvPr/>
        </p:nvSpPr>
        <p:spPr>
          <a:xfrm>
            <a:off x="822960" y="2834640"/>
            <a:ext cx="5029200" cy="45720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Reward-partner sponsorships (airtime, retail vouchers)</a:t>
            </a:r>
            <a:endParaRPr lang="en-US" sz="1300" dirty="0"/>
          </a:p>
        </p:txBody>
      </p:sp>
      <p:sp>
        <p:nvSpPr>
          <p:cNvPr id="11" name="Text 9"/>
          <p:cNvSpPr/>
          <p:nvPr/>
        </p:nvSpPr>
        <p:spPr>
          <a:xfrm>
            <a:off x="548640" y="3611880"/>
            <a:ext cx="5303520" cy="365760"/>
          </a:xfrm>
          <a:prstGeom prst="rect">
            <a:avLst/>
          </a:prstGeom>
          <a:noFill/>
          <a:ln/>
        </p:spPr>
        <p:txBody>
          <a:bodyPr wrap="square" rtlCol="0" anchor="ctr"/>
          <a:lstStyle/>
          <a:p>
            <a:pPr marL="0" indent="0">
              <a:buNone/>
            </a:pPr>
            <a:r>
              <a:rPr lang="en-US" sz="1600" b="1" dirty="0">
                <a:solidFill>
                  <a:srgbClr val="1B4332"/>
                </a:solidFill>
                <a:latin typeface="Cambria" pitchFamily="34" charset="0"/>
                <a:ea typeface="Cambria" pitchFamily="34" charset="-122"/>
                <a:cs typeface="Cambria" pitchFamily="34" charset="-120"/>
              </a:rPr>
              <a:t>Major expenses</a:t>
            </a:r>
            <a:endParaRPr lang="en-US" sz="1600" dirty="0"/>
          </a:p>
        </p:txBody>
      </p:sp>
      <p:sp>
        <p:nvSpPr>
          <p:cNvPr id="12" name="Shape 10"/>
          <p:cNvSpPr/>
          <p:nvPr/>
        </p:nvSpPr>
        <p:spPr>
          <a:xfrm>
            <a:off x="548640" y="4169664"/>
            <a:ext cx="109728" cy="109728"/>
          </a:xfrm>
          <a:prstGeom prst="ellipse">
            <a:avLst/>
          </a:prstGeom>
          <a:solidFill>
            <a:srgbClr val="F59E0B"/>
          </a:solidFill>
          <a:ln/>
        </p:spPr>
      </p:sp>
      <p:sp>
        <p:nvSpPr>
          <p:cNvPr id="13" name="Text 11"/>
          <p:cNvSpPr/>
          <p:nvPr/>
        </p:nvSpPr>
        <p:spPr>
          <a:xfrm>
            <a:off x="822960" y="3977640"/>
            <a:ext cx="5029200" cy="45720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Payments to contracted pickup agents</a:t>
            </a:r>
            <a:endParaRPr lang="en-US" sz="1300" dirty="0"/>
          </a:p>
        </p:txBody>
      </p:sp>
      <p:sp>
        <p:nvSpPr>
          <p:cNvPr id="14" name="Shape 12"/>
          <p:cNvSpPr/>
          <p:nvPr/>
        </p:nvSpPr>
        <p:spPr>
          <a:xfrm>
            <a:off x="548640" y="4672584"/>
            <a:ext cx="109728" cy="109728"/>
          </a:xfrm>
          <a:prstGeom prst="ellipse">
            <a:avLst/>
          </a:prstGeom>
          <a:solidFill>
            <a:srgbClr val="F59E0B"/>
          </a:solidFill>
          <a:ln/>
        </p:spPr>
      </p:sp>
      <p:sp>
        <p:nvSpPr>
          <p:cNvPr id="15" name="Text 13"/>
          <p:cNvSpPr/>
          <p:nvPr/>
        </p:nvSpPr>
        <p:spPr>
          <a:xfrm>
            <a:off x="822960" y="4480560"/>
            <a:ext cx="5029200" cy="45720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App hosting/maintenance &amp; customer support</a:t>
            </a:r>
            <a:endParaRPr lang="en-US" sz="1300" dirty="0"/>
          </a:p>
        </p:txBody>
      </p:sp>
      <p:sp>
        <p:nvSpPr>
          <p:cNvPr id="16" name="Shape 14"/>
          <p:cNvSpPr/>
          <p:nvPr/>
        </p:nvSpPr>
        <p:spPr>
          <a:xfrm>
            <a:off x="548640" y="5175504"/>
            <a:ext cx="109728" cy="109728"/>
          </a:xfrm>
          <a:prstGeom prst="ellipse">
            <a:avLst/>
          </a:prstGeom>
          <a:solidFill>
            <a:srgbClr val="F59E0B"/>
          </a:solidFill>
          <a:ln/>
        </p:spPr>
      </p:sp>
      <p:sp>
        <p:nvSpPr>
          <p:cNvPr id="17" name="Text 15"/>
          <p:cNvSpPr/>
          <p:nvPr/>
        </p:nvSpPr>
        <p:spPr>
          <a:xfrm>
            <a:off x="822960" y="4983480"/>
            <a:ext cx="5029200" cy="45720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Marketing and partnership development</a:t>
            </a:r>
            <a:endParaRPr lang="en-US" sz="1300" dirty="0"/>
          </a:p>
        </p:txBody>
      </p:sp>
      <p:sp>
        <p:nvSpPr>
          <p:cNvPr id="18" name="Shape 16"/>
          <p:cNvSpPr/>
          <p:nvPr/>
        </p:nvSpPr>
        <p:spPr>
          <a:xfrm>
            <a:off x="6309360" y="1463040"/>
            <a:ext cx="5303520" cy="4617720"/>
          </a:xfrm>
          <a:prstGeom prst="roundRect">
            <a:avLst>
              <a:gd name="adj" fmla="val 1584"/>
            </a:avLst>
          </a:prstGeom>
          <a:solidFill>
            <a:srgbClr val="1B4332"/>
          </a:solidFill>
          <a:ln/>
        </p:spPr>
      </p:sp>
      <p:sp>
        <p:nvSpPr>
          <p:cNvPr id="19" name="Text 17"/>
          <p:cNvSpPr/>
          <p:nvPr/>
        </p:nvSpPr>
        <p:spPr>
          <a:xfrm>
            <a:off x="6583680" y="1691640"/>
            <a:ext cx="4754880" cy="320040"/>
          </a:xfrm>
          <a:prstGeom prst="rect">
            <a:avLst/>
          </a:prstGeom>
          <a:noFill/>
          <a:ln/>
        </p:spPr>
        <p:txBody>
          <a:bodyPr wrap="square" rtlCol="0" anchor="ctr"/>
          <a:lstStyle/>
          <a:p>
            <a:pPr marL="0" indent="0">
              <a:buNone/>
            </a:pPr>
            <a:r>
              <a:rPr lang="en-US" sz="1200" b="1" kern="0" spc="200" dirty="0">
                <a:solidFill>
                  <a:srgbClr val="F59E0B"/>
                </a:solidFill>
                <a:latin typeface="Calibri" pitchFamily="34" charset="0"/>
                <a:ea typeface="Calibri" pitchFamily="34" charset="-122"/>
                <a:cs typeface="Calibri" pitchFamily="34" charset="-120"/>
              </a:rPr>
              <a:t>PATH TO PROFITABILITY</a:t>
            </a:r>
            <a:endParaRPr lang="en-US" sz="1200" dirty="0"/>
          </a:p>
        </p:txBody>
      </p:sp>
      <p:sp>
        <p:nvSpPr>
          <p:cNvPr id="20" name="Text 18"/>
          <p:cNvSpPr/>
          <p:nvPr/>
        </p:nvSpPr>
        <p:spPr>
          <a:xfrm>
            <a:off x="6583680" y="2148840"/>
            <a:ext cx="475488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Months 1–6</a:t>
            </a:r>
            <a:endParaRPr lang="en-US" sz="1400" dirty="0"/>
          </a:p>
        </p:txBody>
      </p:sp>
      <p:sp>
        <p:nvSpPr>
          <p:cNvPr id="21" name="Text 19"/>
          <p:cNvSpPr/>
          <p:nvPr/>
        </p:nvSpPr>
        <p:spPr>
          <a:xfrm>
            <a:off x="6583680" y="2487168"/>
            <a:ext cx="4754880" cy="822960"/>
          </a:xfrm>
          <a:prstGeom prst="rect">
            <a:avLst/>
          </a:prstGeom>
          <a:noFill/>
          <a:ln/>
        </p:spPr>
        <p:txBody>
          <a:bodyPr wrap="square" rtlCol="0" anchor="t"/>
          <a:lstStyle/>
          <a:p>
            <a:pPr marL="0" indent="0">
              <a:buNone/>
            </a:pPr>
            <a:r>
              <a:rPr lang="en-US" sz="1250" dirty="0">
                <a:solidFill>
                  <a:srgbClr val="CFE8DA"/>
                </a:solidFill>
                <a:latin typeface="Calibri" pitchFamily="34" charset="0"/>
                <a:ea typeface="Calibri" pitchFamily="34" charset="-122"/>
                <a:cs typeface="Calibri" pitchFamily="34" charset="-120"/>
              </a:rPr>
              <a:t>Subscriber acquisition phase — modest losses expected as pilot estates/schools are onboarded and reward partnerships are established.</a:t>
            </a:r>
            <a:endParaRPr lang="en-US" sz="1250" dirty="0"/>
          </a:p>
        </p:txBody>
      </p:sp>
      <p:sp>
        <p:nvSpPr>
          <p:cNvPr id="22" name="Shape 20"/>
          <p:cNvSpPr/>
          <p:nvPr/>
        </p:nvSpPr>
        <p:spPr>
          <a:xfrm>
            <a:off x="6583680" y="3337560"/>
            <a:ext cx="4754880" cy="18288"/>
          </a:xfrm>
          <a:prstGeom prst="rect">
            <a:avLst/>
          </a:prstGeom>
          <a:solidFill>
            <a:srgbClr val="2D6A4F"/>
          </a:solidFill>
          <a:ln/>
        </p:spPr>
      </p:sp>
      <p:sp>
        <p:nvSpPr>
          <p:cNvPr id="23" name="Text 21"/>
          <p:cNvSpPr/>
          <p:nvPr/>
        </p:nvSpPr>
        <p:spPr>
          <a:xfrm>
            <a:off x="6583680" y="3474720"/>
            <a:ext cx="475488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Months 7–12</a:t>
            </a:r>
            <a:endParaRPr lang="en-US" sz="1400" dirty="0"/>
          </a:p>
        </p:txBody>
      </p:sp>
      <p:sp>
        <p:nvSpPr>
          <p:cNvPr id="24" name="Text 22"/>
          <p:cNvSpPr/>
          <p:nvPr/>
        </p:nvSpPr>
        <p:spPr>
          <a:xfrm>
            <a:off x="6583680" y="3813048"/>
            <a:ext cx="4754880" cy="822960"/>
          </a:xfrm>
          <a:prstGeom prst="rect">
            <a:avLst/>
          </a:prstGeom>
          <a:noFill/>
          <a:ln/>
        </p:spPr>
        <p:txBody>
          <a:bodyPr wrap="square" rtlCol="0" anchor="t"/>
          <a:lstStyle/>
          <a:p>
            <a:pPr marL="0" indent="0">
              <a:buNone/>
            </a:pPr>
            <a:r>
              <a:rPr lang="en-US" sz="1250" dirty="0">
                <a:solidFill>
                  <a:srgbClr val="CFE8DA"/>
                </a:solidFill>
                <a:latin typeface="Calibri" pitchFamily="34" charset="0"/>
                <a:ea typeface="Calibri" pitchFamily="34" charset="-122"/>
                <a:cs typeface="Calibri" pitchFamily="34" charset="-120"/>
              </a:rPr>
              <a:t>Breakeven targeted once subscription revenue and recyclables sales together cover lean, mostly-variable operating costs.</a:t>
            </a:r>
            <a:endParaRPr lang="en-US" sz="1250" dirty="0"/>
          </a:p>
        </p:txBody>
      </p:sp>
      <p:sp>
        <p:nvSpPr>
          <p:cNvPr id="25" name="Shape 23"/>
          <p:cNvSpPr/>
          <p:nvPr/>
        </p:nvSpPr>
        <p:spPr>
          <a:xfrm>
            <a:off x="6583680" y="4663440"/>
            <a:ext cx="4754880" cy="18288"/>
          </a:xfrm>
          <a:prstGeom prst="rect">
            <a:avLst/>
          </a:prstGeom>
          <a:solidFill>
            <a:srgbClr val="2D6A4F"/>
          </a:solidFill>
          <a:ln/>
        </p:spPr>
      </p:sp>
      <p:sp>
        <p:nvSpPr>
          <p:cNvPr id="26" name="Text 24"/>
          <p:cNvSpPr/>
          <p:nvPr/>
        </p:nvSpPr>
        <p:spPr>
          <a:xfrm>
            <a:off x="6583680" y="4800600"/>
            <a:ext cx="4754880" cy="32004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Why it's realistic</a:t>
            </a:r>
            <a:endParaRPr lang="en-US" sz="1400" dirty="0"/>
          </a:p>
        </p:txBody>
      </p:sp>
      <p:sp>
        <p:nvSpPr>
          <p:cNvPr id="27" name="Text 25"/>
          <p:cNvSpPr/>
          <p:nvPr/>
        </p:nvSpPr>
        <p:spPr>
          <a:xfrm>
            <a:off x="6583680" y="5138928"/>
            <a:ext cx="4754880" cy="822960"/>
          </a:xfrm>
          <a:prstGeom prst="rect">
            <a:avLst/>
          </a:prstGeom>
          <a:noFill/>
          <a:ln/>
        </p:spPr>
        <p:txBody>
          <a:bodyPr wrap="square" rtlCol="0" anchor="t"/>
          <a:lstStyle/>
          <a:p>
            <a:pPr marL="0" indent="0">
              <a:buNone/>
            </a:pPr>
            <a:r>
              <a:rPr lang="en-US" sz="1250" dirty="0">
                <a:solidFill>
                  <a:srgbClr val="CFE8DA"/>
                </a:solidFill>
                <a:latin typeface="Calibri" pitchFamily="34" charset="0"/>
                <a:ea typeface="Calibri" pitchFamily="34" charset="-122"/>
                <a:cs typeface="Calibri" pitchFamily="34" charset="-120"/>
              </a:rPr>
              <a:t>Low fixed-asset base (no owned truck fleet) means costs track revenue closely from day one, unlike capital-heavy competitors.</a:t>
            </a:r>
            <a:endParaRPr lang="en-US" sz="1250" dirty="0"/>
          </a:p>
        </p:txBody>
      </p:sp>
      <p:sp>
        <p:nvSpPr>
          <p:cNvPr id="28" name="Text 26"/>
          <p:cNvSpPr/>
          <p:nvPr/>
        </p:nvSpPr>
        <p:spPr>
          <a:xfrm>
            <a:off x="11430000" y="6446520"/>
            <a:ext cx="548640" cy="320040"/>
          </a:xfrm>
          <a:prstGeom prst="rect">
            <a:avLst/>
          </a:prstGeom>
          <a:noFill/>
          <a:ln/>
        </p:spPr>
        <p:txBody>
          <a:bodyPr wrap="square" rtlCol="0" anchor="ctr"/>
          <a:lstStyle/>
          <a:p>
            <a:pPr marL="0" indent="0" algn="r">
              <a:buNone/>
            </a:pPr>
            <a:r>
              <a:rPr lang="en-US" sz="1000" dirty="0">
                <a:solidFill>
                  <a:srgbClr val="5B6B63"/>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822960" y="777240"/>
            <a:ext cx="777240" cy="777240"/>
          </a:xfrm>
          <a:prstGeom prst="ellipse">
            <a:avLst/>
          </a:prstGeom>
          <a:solidFill>
            <a:srgbClr val="F59E0B"/>
          </a:solidFill>
          <a:ln/>
        </p:spPr>
      </p:sp>
      <p:pic>
        <p:nvPicPr>
          <p:cNvPr id="3" name="Image 0" descr="/home/claude/work/icons/leaf_1B4332.png"/>
          <p:cNvPicPr>
            <a:picLocks noChangeAspect="1"/>
          </p:cNvPicPr>
          <p:nvPr/>
        </p:nvPicPr>
        <p:blipFill>
          <a:blip r:embed="rId3"/>
          <a:stretch>
            <a:fillRect/>
          </a:stretch>
        </p:blipFill>
        <p:spPr>
          <a:xfrm>
            <a:off x="1025042" y="979322"/>
            <a:ext cx="373075" cy="373075"/>
          </a:xfrm>
          <a:prstGeom prst="rect">
            <a:avLst/>
          </a:prstGeom>
        </p:spPr>
      </p:pic>
      <p:sp>
        <p:nvSpPr>
          <p:cNvPr id="4" name="Text 1"/>
          <p:cNvSpPr/>
          <p:nvPr/>
        </p:nvSpPr>
        <p:spPr>
          <a:xfrm>
            <a:off x="822960" y="1737360"/>
            <a:ext cx="7315200" cy="320040"/>
          </a:xfrm>
          <a:prstGeom prst="rect">
            <a:avLst/>
          </a:prstGeom>
          <a:noFill/>
          <a:ln/>
        </p:spPr>
        <p:txBody>
          <a:bodyPr wrap="square" rtlCol="0" anchor="ctr"/>
          <a:lstStyle/>
          <a:p>
            <a:pPr marL="0" indent="0">
              <a:buNone/>
            </a:pPr>
            <a:r>
              <a:rPr lang="en-US" sz="1300" b="1" kern="0" spc="200" dirty="0">
                <a:solidFill>
                  <a:srgbClr val="F59E0B"/>
                </a:solidFill>
                <a:latin typeface="Calibri" pitchFamily="34" charset="0"/>
                <a:ea typeface="Calibri" pitchFamily="34" charset="-122"/>
                <a:cs typeface="Calibri" pitchFamily="34" charset="-120"/>
              </a:rPr>
              <a:t>CONCLUSION</a:t>
            </a:r>
            <a:endParaRPr lang="en-US" sz="1300" dirty="0"/>
          </a:p>
        </p:txBody>
      </p:sp>
      <p:sp>
        <p:nvSpPr>
          <p:cNvPr id="5" name="Text 2"/>
          <p:cNvSpPr/>
          <p:nvPr/>
        </p:nvSpPr>
        <p:spPr>
          <a:xfrm>
            <a:off x="822960" y="2103120"/>
            <a:ext cx="10058400" cy="91440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 focused, asset-light answer to a real gap</a:t>
            </a:r>
            <a:endParaRPr lang="en-US" sz="3200" dirty="0"/>
          </a:p>
        </p:txBody>
      </p:sp>
      <p:sp>
        <p:nvSpPr>
          <p:cNvPr id="6" name="Text 3"/>
          <p:cNvSpPr/>
          <p:nvPr/>
        </p:nvSpPr>
        <p:spPr>
          <a:xfrm>
            <a:off x="822960" y="3063240"/>
            <a:ext cx="9875520" cy="1005840"/>
          </a:xfrm>
          <a:prstGeom prst="rect">
            <a:avLst/>
          </a:prstGeom>
          <a:noFill/>
          <a:ln/>
        </p:spPr>
        <p:txBody>
          <a:bodyPr wrap="square" rtlCol="0" anchor="t"/>
          <a:lstStyle/>
          <a:p>
            <a:pPr marL="0" indent="0">
              <a:buNone/>
            </a:pPr>
            <a:r>
              <a:rPr lang="en-US" sz="1500" dirty="0">
                <a:solidFill>
                  <a:srgbClr val="CFE8DA"/>
                </a:solidFill>
                <a:latin typeface="Calibri" pitchFamily="34" charset="0"/>
                <a:ea typeface="Calibri" pitchFamily="34" charset="-122"/>
                <a:cs typeface="Calibri" pitchFamily="34" charset="-120"/>
              </a:rPr>
              <a:t>EcoBin Ghana targets the private estates, schools and small businesses that large municipal contracts don't prioritize — combining reliable app-based scheduling with recycling rewards, on a lean operating model that keeps start-up costs realistic.</a:t>
            </a:r>
            <a:endParaRPr lang="en-US" sz="1500" dirty="0"/>
          </a:p>
        </p:txBody>
      </p:sp>
      <p:sp>
        <p:nvSpPr>
          <p:cNvPr id="7" name="Shape 4"/>
          <p:cNvSpPr/>
          <p:nvPr/>
        </p:nvSpPr>
        <p:spPr>
          <a:xfrm>
            <a:off x="822960" y="4206240"/>
            <a:ext cx="9692640" cy="18288"/>
          </a:xfrm>
          <a:prstGeom prst="rect">
            <a:avLst/>
          </a:prstGeom>
          <a:solidFill>
            <a:srgbClr val="2D6A4F"/>
          </a:solidFill>
          <a:ln/>
        </p:spPr>
      </p:sp>
      <p:sp>
        <p:nvSpPr>
          <p:cNvPr id="8" name="Text 5"/>
          <p:cNvSpPr/>
          <p:nvPr/>
        </p:nvSpPr>
        <p:spPr>
          <a:xfrm>
            <a:off x="822960" y="4434840"/>
            <a:ext cx="9692640" cy="731520"/>
          </a:xfrm>
          <a:prstGeom prst="rect">
            <a:avLst/>
          </a:prstGeom>
          <a:noFill/>
          <a:ln/>
        </p:spPr>
        <p:txBody>
          <a:bodyPr wrap="square" rtlCol="0" anchor="t"/>
          <a:lstStyle/>
          <a:p>
            <a:pPr marL="0" indent="0">
              <a:buNone/>
            </a:pPr>
            <a:r>
              <a:rPr lang="en-US" sz="1350" i="1" dirty="0">
                <a:solidFill>
                  <a:srgbClr val="CFE8DA"/>
                </a:solidFill>
                <a:latin typeface="Calibri" pitchFamily="34" charset="0"/>
                <a:ea typeface="Calibri" pitchFamily="34" charset="-122"/>
                <a:cs typeface="Calibri" pitchFamily="34" charset="-120"/>
              </a:rPr>
              <a:t>This presentation, together with the accompanying written business plan, captures our full proposal as required by the group work guidelines.</a:t>
            </a:r>
            <a:endParaRPr lang="en-US" sz="1350" dirty="0"/>
          </a:p>
        </p:txBody>
      </p:sp>
      <p:sp>
        <p:nvSpPr>
          <p:cNvPr id="9" name="Text 6"/>
          <p:cNvSpPr/>
          <p:nvPr/>
        </p:nvSpPr>
        <p:spPr>
          <a:xfrm>
            <a:off x="11430000" y="6446520"/>
            <a:ext cx="548640" cy="320040"/>
          </a:xfrm>
          <a:prstGeom prst="rect">
            <a:avLst/>
          </a:prstGeom>
          <a:noFill/>
          <a:ln/>
        </p:spPr>
        <p:txBody>
          <a:bodyPr wrap="square" rtlCol="0" anchor="ctr"/>
          <a:lstStyle/>
          <a:p>
            <a:pPr marL="0" indent="0" algn="r">
              <a:buNone/>
            </a:pPr>
            <a:r>
              <a:rPr lang="en-US" sz="1000" dirty="0">
                <a:solidFill>
                  <a:srgbClr val="5B6B63"/>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4332"/>
        </a:solidFill>
        <a:effectLst/>
      </p:bgPr>
    </p:bg>
    <p:spTree>
      <p:nvGrpSpPr>
        <p:cNvPr id="1" name=""/>
        <p:cNvGrpSpPr/>
        <p:nvPr/>
      </p:nvGrpSpPr>
      <p:grpSpPr>
        <a:xfrm>
          <a:off x="0" y="0"/>
          <a:ext cx="0" cy="0"/>
          <a:chOff x="0" y="0"/>
          <a:chExt cx="0" cy="0"/>
        </a:xfrm>
      </p:grpSpPr>
      <p:sp>
        <p:nvSpPr>
          <p:cNvPr id="2" name="Shape 0"/>
          <p:cNvSpPr/>
          <p:nvPr/>
        </p:nvSpPr>
        <p:spPr>
          <a:xfrm>
            <a:off x="8961120" y="-1645920"/>
            <a:ext cx="5029200" cy="5029200"/>
          </a:xfrm>
          <a:prstGeom prst="ellipse">
            <a:avLst/>
          </a:prstGeom>
          <a:solidFill>
            <a:srgbClr val="2D6A4F">
              <a:alpha val="45000"/>
            </a:srgbClr>
          </a:solidFill>
          <a:ln/>
        </p:spPr>
      </p:sp>
      <p:sp>
        <p:nvSpPr>
          <p:cNvPr id="3" name="Shape 1"/>
          <p:cNvSpPr/>
          <p:nvPr/>
        </p:nvSpPr>
        <p:spPr>
          <a:xfrm>
            <a:off x="-2011680" y="4023360"/>
            <a:ext cx="4572000" cy="4572000"/>
          </a:xfrm>
          <a:prstGeom prst="ellipse">
            <a:avLst/>
          </a:prstGeom>
          <a:solidFill>
            <a:srgbClr val="2D6A4F">
              <a:alpha val="45000"/>
            </a:srgbClr>
          </a:solidFill>
          <a:ln/>
        </p:spPr>
      </p:sp>
      <p:sp>
        <p:nvSpPr>
          <p:cNvPr id="4" name="Shape 2"/>
          <p:cNvSpPr/>
          <p:nvPr/>
        </p:nvSpPr>
        <p:spPr>
          <a:xfrm>
            <a:off x="5166360" y="2331720"/>
            <a:ext cx="1005840" cy="1005840"/>
          </a:xfrm>
          <a:prstGeom prst="ellipse">
            <a:avLst/>
          </a:prstGeom>
          <a:solidFill>
            <a:srgbClr val="F59E0B"/>
          </a:solidFill>
          <a:ln/>
        </p:spPr>
      </p:sp>
      <p:pic>
        <p:nvPicPr>
          <p:cNvPr id="5" name="Image 0" descr="/home/claude/work/icons/recycle_1B4332.png"/>
          <p:cNvPicPr>
            <a:picLocks noChangeAspect="1"/>
          </p:cNvPicPr>
          <p:nvPr/>
        </p:nvPicPr>
        <p:blipFill>
          <a:blip r:embed="rId3"/>
          <a:stretch>
            <a:fillRect/>
          </a:stretch>
        </p:blipFill>
        <p:spPr>
          <a:xfrm>
            <a:off x="5427878" y="2593238"/>
            <a:ext cx="482803" cy="482803"/>
          </a:xfrm>
          <a:prstGeom prst="rect">
            <a:avLst/>
          </a:prstGeom>
        </p:spPr>
      </p:pic>
      <p:sp>
        <p:nvSpPr>
          <p:cNvPr id="6" name="Text 3"/>
          <p:cNvSpPr/>
          <p:nvPr/>
        </p:nvSpPr>
        <p:spPr>
          <a:xfrm>
            <a:off x="822960" y="3657600"/>
            <a:ext cx="10515600" cy="914400"/>
          </a:xfrm>
          <a:prstGeom prst="rect">
            <a:avLst/>
          </a:prstGeom>
          <a:noFill/>
          <a:ln/>
        </p:spPr>
        <p:txBody>
          <a:bodyPr wrap="square" rtlCol="0" anchor="ctr"/>
          <a:lstStyle/>
          <a:p>
            <a:pPr marL="0" indent="0" algn="ctr">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7" name="Text 4"/>
          <p:cNvSpPr/>
          <p:nvPr/>
        </p:nvSpPr>
        <p:spPr>
          <a:xfrm>
            <a:off x="822960" y="4480560"/>
            <a:ext cx="10515600" cy="457200"/>
          </a:xfrm>
          <a:prstGeom prst="rect">
            <a:avLst/>
          </a:prstGeom>
          <a:noFill/>
          <a:ln/>
        </p:spPr>
        <p:txBody>
          <a:bodyPr wrap="square" rtlCol="0" anchor="ctr"/>
          <a:lstStyle/>
          <a:p>
            <a:pPr marL="0" indent="0" algn="ctr">
              <a:buNone/>
            </a:pPr>
            <a:r>
              <a:rPr lang="en-US" sz="1500" dirty="0">
                <a:solidFill>
                  <a:srgbClr val="CFE8DA"/>
                </a:solidFill>
                <a:latin typeface="Calibri" pitchFamily="34" charset="0"/>
                <a:ea typeface="Calibri" pitchFamily="34" charset="-122"/>
                <a:cs typeface="Calibri" pitchFamily="34" charset="-120"/>
              </a:rPr>
              <a:t>EcoBin Ghana  •  BUPE 362 Group Work</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1648</Words>
  <Application>Microsoft Office PowerPoint</Application>
  <PresentationFormat>Widescreen</PresentationFormat>
  <Paragraphs>225</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Caddilac Kwasi Akoto</cp:lastModifiedBy>
  <cp:revision>2</cp:revision>
  <dcterms:created xsi:type="dcterms:W3CDTF">2026-07-12T19:23:22Z</dcterms:created>
  <dcterms:modified xsi:type="dcterms:W3CDTF">2026-07-21T09:27:31Z</dcterms:modified>
</cp:coreProperties>
</file>